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
      <p:font typeface="Franklin Gothic Book" panose="020B0503020102020204" pitchFamily="34" charset="0"/>
      <p:regular r:id="rId24"/>
      <p:italic r:id="rId25"/>
    </p:embeddedFont>
  </p:embeddedFontLst>
  <p:custDataLst>
    <p:tags r:id="rId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25"/>
    <p:restoredTop sz="94713"/>
  </p:normalViewPr>
  <p:slideViewPr>
    <p:cSldViewPr snapToGrid="0">
      <p:cViewPr varScale="1">
        <p:scale>
          <a:sx n="73" d="100"/>
          <a:sy n="73" d="100"/>
        </p:scale>
        <p:origin x="216" y="17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5729084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7928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51858761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73091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1461340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86963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42922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8096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347902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6609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82639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0113944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Aaron Summers</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50"/>
        <p:cNvGrpSpPr/>
        <p:nvPr/>
      </p:nvGrpSpPr>
      <p:grpSpPr>
        <a:xfrm>
          <a:off x="0" y="0"/>
          <a:ext cx="0" cy="0"/>
          <a:chOff x="0" y="0"/>
          <a:chExt cx="0" cy="0"/>
        </a:xfrm>
      </p:grpSpPr>
      <p:sp useBgFill="1">
        <p:nvSpPr>
          <p:cNvPr id="159" name="Rectangle 158">
            <a:extLst>
              <a:ext uri="{FF2B5EF4-FFF2-40B4-BE49-F238E27FC236}">
                <a16:creationId xmlns:a16="http://schemas.microsoft.com/office/drawing/2014/main" id="{8E2B8A2D-F46F-4DA5-8AFF-BC57461C2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Google Shape;151;p3"/>
          <p:cNvSpPr txBox="1">
            <a:spLocks noGrp="1"/>
          </p:cNvSpPr>
          <p:nvPr>
            <p:ph type="title"/>
          </p:nvPr>
        </p:nvSpPr>
        <p:spPr>
          <a:xfrm>
            <a:off x="784743" y="685800"/>
            <a:ext cx="5793475" cy="1485900"/>
          </a:xfrm>
          <a:prstGeom prst="rect">
            <a:avLst/>
          </a:prstGeom>
        </p:spPr>
        <p:txBody>
          <a:bodyPr spcFirstLastPara="1" lIns="91425" tIns="45700" rIns="91425" bIns="45700" anchorCtr="0">
            <a:normAutofit/>
          </a:bodyPr>
          <a:lstStyle/>
          <a:p>
            <a:pPr marL="0" lvl="0" indent="0" rtl="0">
              <a:spcBef>
                <a:spcPts val="0"/>
              </a:spcBef>
              <a:spcAft>
                <a:spcPts val="0"/>
              </a:spcAft>
              <a:buClr>
                <a:schemeClr val="lt1"/>
              </a:buClr>
              <a:buSzPts val="4000"/>
              <a:buFont typeface="Century Gothic"/>
              <a:buNone/>
            </a:pPr>
            <a:r>
              <a:rPr lang="en-US"/>
              <a:t>OVERVIEW: DEFENSE IN DEPTH</a:t>
            </a:r>
          </a:p>
        </p:txBody>
      </p:sp>
      <p:sp>
        <p:nvSpPr>
          <p:cNvPr id="152" name="Google Shape;152;p3"/>
          <p:cNvSpPr txBox="1">
            <a:spLocks noGrp="1"/>
          </p:cNvSpPr>
          <p:nvPr>
            <p:ph idx="1"/>
          </p:nvPr>
        </p:nvSpPr>
        <p:spPr>
          <a:xfrm>
            <a:off x="784743" y="2286000"/>
            <a:ext cx="5793475" cy="3581400"/>
          </a:xfrm>
          <a:prstGeom prst="rect">
            <a:avLst/>
          </a:prstGeom>
        </p:spPr>
        <p:txBody>
          <a:bodyPr spcFirstLastPara="1" lIns="91425" tIns="45700" rIns="91425" bIns="45700" anchorCtr="0">
            <a:normAutofit/>
          </a:bodyPr>
          <a:lstStyle/>
          <a:p>
            <a:pPr marL="228600" indent="-228600">
              <a:spcBef>
                <a:spcPts val="0"/>
              </a:spcBef>
              <a:spcAft>
                <a:spcPts val="0"/>
              </a:spcAft>
              <a:buClr>
                <a:schemeClr val="tx2"/>
              </a:buClr>
              <a:buFont typeface="Arial"/>
              <a:buChar char="•"/>
            </a:pPr>
            <a:r>
              <a:rPr lang="en-US" sz="1700" b="1"/>
              <a:t>Why it was needed: </a:t>
            </a:r>
            <a:r>
              <a:rPr lang="en-US" sz="1700"/>
              <a:t>software development at Green Pace needs secure practices that are defined, applied and governed the same way in every application.</a:t>
            </a:r>
          </a:p>
          <a:p>
            <a:pPr marL="228600" indent="-228600">
              <a:spcBef>
                <a:spcPts val="900"/>
              </a:spcBef>
              <a:spcAft>
                <a:spcPts val="0"/>
              </a:spcAft>
              <a:buClr>
                <a:schemeClr val="tx2"/>
              </a:buClr>
              <a:buFont typeface="Arial"/>
              <a:buChar char="•"/>
            </a:pPr>
            <a:r>
              <a:rPr lang="en-US" sz="1700" b="1"/>
              <a:t>What it covers: </a:t>
            </a:r>
            <a:r>
              <a:rPr lang="en-US" sz="1700"/>
              <a:t>ten core security principles, ten C/C++ coding standards, Triple-A standards and encryption standards for all staff who create, deploy or support custom software.</a:t>
            </a:r>
          </a:p>
          <a:p>
            <a:pPr marL="228600" indent="-228600">
              <a:spcBef>
                <a:spcPts val="900"/>
              </a:spcBef>
              <a:spcAft>
                <a:spcPts val="0"/>
              </a:spcAft>
              <a:buClr>
                <a:schemeClr val="tx2"/>
              </a:buClr>
              <a:buFont typeface="Arial"/>
              <a:buChar char="•"/>
            </a:pPr>
            <a:r>
              <a:rPr lang="en-US" sz="1700" b="1"/>
              <a:t>How it supports defense in depth: </a:t>
            </a:r>
            <a:r>
              <a:rPr lang="en-US" sz="1700"/>
              <a:t>no single control is the only protection. Input validation, access control, encryption, logging and monitoring are layered, so if one fails the others limit or detect the damage.</a:t>
            </a:r>
          </a:p>
          <a:p>
            <a:pPr marL="0" lvl="0" indent="0" rtl="0">
              <a:spcBef>
                <a:spcPts val="1000"/>
              </a:spcBef>
              <a:spcAft>
                <a:spcPts val="0"/>
              </a:spcAft>
              <a:buClr>
                <a:schemeClr val="lt1"/>
              </a:buClr>
              <a:buSzPts val="2200"/>
              <a:buNone/>
            </a:pPr>
            <a:endParaRPr lang="en-US" sz="1700"/>
          </a:p>
        </p:txBody>
      </p:sp>
      <p:sp>
        <p:nvSpPr>
          <p:cNvPr id="161" name="Rectangle 160">
            <a:extLst>
              <a:ext uri="{FF2B5EF4-FFF2-40B4-BE49-F238E27FC236}">
                <a16:creationId xmlns:a16="http://schemas.microsoft.com/office/drawing/2014/main" id="{292BAD85-00E4-4D0A-993C-8372E78E1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54" name="Google Shape;154;p3" descr="Green Pace logo"/>
          <p:cNvPicPr preferRelativeResize="0"/>
          <p:nvPr/>
        </p:nvPicPr>
        <p:blipFill>
          <a:blip r:embed="rId4"/>
          <a:stretch>
            <a:fillRect/>
          </a:stretch>
        </p:blipFill>
        <p:spPr>
          <a:xfrm>
            <a:off x="8857285" y="643467"/>
            <a:ext cx="2089689" cy="2705100"/>
          </a:xfrm>
          <a:prstGeom prst="rect">
            <a:avLst/>
          </a:prstGeom>
          <a:noFill/>
          <a:ln>
            <a:noFill/>
          </a:ln>
          <a:effectLst/>
        </p:spPr>
      </p:pic>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5"/>
          <a:stretch/>
        </p:blipFill>
        <p:spPr>
          <a:xfrm>
            <a:off x="8037090" y="3812899"/>
            <a:ext cx="3730079" cy="2098169"/>
          </a:xfrm>
          <a:prstGeom prst="rect">
            <a:avLst/>
          </a:prstGeom>
          <a:noFill/>
          <a:ln>
            <a:noFill/>
          </a:ln>
          <a:effectLst/>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0" indent="0">
              <a:lnSpc>
                <a:spcPct val="95000"/>
              </a:lnSpc>
              <a:spcBef>
                <a:spcPts val="0"/>
              </a:spcBef>
              <a:spcAft>
                <a:spcPts val="0"/>
              </a:spcAft>
              <a:buNone/>
            </a:pPr>
            <a:r>
              <a:rPr lang="en-US" dirty="0"/>
              <a:t>Each standard is placed by its Level (1 to 5), which the policy's risk assessment builds from severity, likelihood and remediation cost.</a:t>
            </a:r>
          </a:p>
          <a:p>
            <a:pPr marL="0" indent="0">
              <a:lnSpc>
                <a:spcPct val="95000"/>
              </a:lnSpc>
              <a:spcAft>
                <a:spcPts val="0"/>
              </a:spcAft>
              <a:buNone/>
            </a:pPr>
            <a:r>
              <a:rPr lang="en-US" dirty="0"/>
              <a:t>Six of the ten standards are High severity at Level 4 or 5. They go to the top of the backlog.</a:t>
            </a:r>
          </a:p>
        </p:txBody>
      </p:sp>
      <p:graphicFrame>
        <p:nvGraphicFramePr>
          <p:cNvPr id="161" name="Google Shape;161;p4" descr="Alt text required"/>
          <p:cNvGraphicFramePr/>
          <p:nvPr>
            <p:extLst>
              <p:ext uri="{D42A27DB-BD31-4B8C-83A1-F6EECF244321}">
                <p14:modId xmlns:p14="http://schemas.microsoft.com/office/powerpoint/2010/main" val="3873394525"/>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indent="0" algn="l">
                        <a:lnSpc>
                          <a:spcPct val="95000"/>
                        </a:lnSpc>
                        <a:spcBef>
                          <a:spcPts val="0"/>
                        </a:spcBef>
                        <a:spcAft>
                          <a:spcPts val="0"/>
                        </a:spcAft>
                        <a:buNone/>
                      </a:pPr>
                      <a:r>
                        <a:rPr lang="en-US" sz="2000" b="1" dirty="0">
                          <a:solidFill>
                            <a:schemeClr val="tx2"/>
                          </a:solidFill>
                          <a:latin typeface="Arial"/>
                          <a:cs typeface="Arial"/>
                        </a:rPr>
                        <a:t>Likely</a:t>
                      </a:r>
                    </a:p>
                    <a:p>
                      <a:pPr marL="0" indent="0" algn="l">
                        <a:lnSpc>
                          <a:spcPct val="95000"/>
                        </a:lnSpc>
                        <a:spcBef>
                          <a:spcPts val="200"/>
                        </a:spcBef>
                        <a:spcAft>
                          <a:spcPts val="0"/>
                        </a:spcAft>
                        <a:buNone/>
                      </a:pPr>
                      <a:r>
                        <a:rPr lang="en-US" sz="1200" i="1" dirty="0">
                          <a:solidFill>
                            <a:schemeClr val="tx2"/>
                          </a:solidFill>
                          <a:latin typeface="Arial"/>
                          <a:cs typeface="Arial"/>
                        </a:rPr>
                        <a:t>Level 3: Medium severity, Probable</a:t>
                      </a:r>
                    </a:p>
                    <a:p>
                      <a:pPr marL="0" indent="0" algn="l">
                        <a:lnSpc>
                          <a:spcPct val="95000"/>
                        </a:lnSpc>
                        <a:spcBef>
                          <a:spcPts val="600"/>
                        </a:spcBef>
                        <a:spcAft>
                          <a:spcPts val="0"/>
                        </a:spcAft>
                        <a:buNone/>
                      </a:pPr>
                      <a:r>
                        <a:rPr lang="en-US" sz="1400" b="1" dirty="0">
                          <a:solidFill>
                            <a:schemeClr val="tx2"/>
                          </a:solidFill>
                          <a:latin typeface="Arial"/>
                          <a:cs typeface="Arial"/>
                        </a:rPr>
                        <a:t>STD-006-ASR </a:t>
                      </a:r>
                      <a:r>
                        <a:rPr lang="en-US" sz="1400" dirty="0">
                          <a:solidFill>
                            <a:schemeClr val="tx2"/>
                          </a:solidFill>
                          <a:latin typeface="Arial"/>
                          <a:cs typeface="Arial"/>
                        </a:rPr>
                        <a:t>Assertions</a:t>
                      </a:r>
                    </a:p>
                    <a:p>
                      <a:pPr marL="0" indent="0" algn="l">
                        <a:lnSpc>
                          <a:spcPct val="95000"/>
                        </a:lnSpc>
                        <a:spcBef>
                          <a:spcPts val="600"/>
                        </a:spcBef>
                        <a:spcAft>
                          <a:spcPts val="0"/>
                        </a:spcAft>
                        <a:buNone/>
                      </a:pPr>
                      <a:r>
                        <a:rPr lang="en-US" sz="1400" b="1" dirty="0">
                          <a:solidFill>
                            <a:schemeClr val="tx2"/>
                          </a:solidFill>
                          <a:latin typeface="Arial"/>
                          <a:cs typeface="Arial"/>
                        </a:rPr>
                        <a:t>STD-009-DAS </a:t>
                      </a:r>
                      <a:r>
                        <a:rPr lang="en-US" sz="1400" dirty="0">
                          <a:solidFill>
                            <a:schemeClr val="tx2"/>
                          </a:solidFill>
                          <a:latin typeface="Arial"/>
                          <a:cs typeface="Arial"/>
                        </a:rPr>
                        <a:t>Disabled Assertion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indent="0" algn="l">
                        <a:lnSpc>
                          <a:spcPct val="95000"/>
                        </a:lnSpc>
                        <a:spcBef>
                          <a:spcPts val="0"/>
                        </a:spcBef>
                        <a:spcAft>
                          <a:spcPts val="0"/>
                        </a:spcAft>
                        <a:buNone/>
                      </a:pPr>
                      <a:r>
                        <a:rPr lang="en-US" sz="2000" b="1" dirty="0">
                          <a:solidFill>
                            <a:schemeClr val="tx2"/>
                          </a:solidFill>
                          <a:latin typeface="Arial"/>
                          <a:cs typeface="Arial"/>
                        </a:rPr>
                        <a:t>Priority</a:t>
                      </a:r>
                    </a:p>
                    <a:p>
                      <a:pPr marL="0" indent="0" algn="l">
                        <a:lnSpc>
                          <a:spcPct val="95000"/>
                        </a:lnSpc>
                        <a:spcBef>
                          <a:spcPts val="200"/>
                        </a:spcBef>
                        <a:spcAft>
                          <a:spcPts val="0"/>
                        </a:spcAft>
                        <a:buNone/>
                      </a:pPr>
                      <a:r>
                        <a:rPr lang="en-US" sz="1200" i="1" dirty="0">
                          <a:solidFill>
                            <a:schemeClr val="tx2"/>
                          </a:solidFill>
                          <a:latin typeface="Arial"/>
                          <a:cs typeface="Arial"/>
                        </a:rPr>
                        <a:t>Levels 4 and 5: High severity, fix first</a:t>
                      </a:r>
                    </a:p>
                    <a:p>
                      <a:pPr marL="0" indent="0" algn="l">
                        <a:lnSpc>
                          <a:spcPct val="95000"/>
                        </a:lnSpc>
                        <a:spcBef>
                          <a:spcPts val="600"/>
                        </a:spcBef>
                        <a:spcAft>
                          <a:spcPts val="0"/>
                        </a:spcAft>
                        <a:buNone/>
                      </a:pPr>
                      <a:r>
                        <a:rPr lang="en-US" sz="1400" b="1" dirty="0">
                          <a:solidFill>
                            <a:schemeClr val="tx2"/>
                          </a:solidFill>
                          <a:latin typeface="Arial"/>
                          <a:cs typeface="Arial"/>
                        </a:rPr>
                        <a:t>Level 5: </a:t>
                      </a:r>
                      <a:r>
                        <a:rPr lang="en-US" sz="1400" dirty="0">
                          <a:solidFill>
                            <a:schemeClr val="tx2"/>
                          </a:solidFill>
                          <a:latin typeface="Arial"/>
                          <a:cs typeface="Arial"/>
                        </a:rPr>
                        <a:t>Data Value, String Correctness, SQL Injection</a:t>
                      </a:r>
                    </a:p>
                    <a:p>
                      <a:pPr marL="0" indent="0" algn="l">
                        <a:lnSpc>
                          <a:spcPct val="95000"/>
                        </a:lnSpc>
                        <a:spcBef>
                          <a:spcPts val="600"/>
                        </a:spcBef>
                        <a:spcAft>
                          <a:spcPts val="0"/>
                        </a:spcAft>
                        <a:buNone/>
                      </a:pPr>
                      <a:r>
                        <a:rPr lang="en-US" sz="1400" b="1" dirty="0">
                          <a:solidFill>
                            <a:schemeClr val="tx2"/>
                          </a:solidFill>
                          <a:latin typeface="Arial"/>
                          <a:cs typeface="Arial"/>
                        </a:rPr>
                        <a:t>Level 4: </a:t>
                      </a:r>
                      <a:r>
                        <a:rPr lang="en-US" sz="1400" dirty="0">
                          <a:solidFill>
                            <a:schemeClr val="tx2"/>
                          </a:solidFill>
                          <a:latin typeface="Arial"/>
                          <a:cs typeface="Arial"/>
                        </a:rPr>
                        <a:t>Data Type, Memory Protection, Memory Double Delete</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indent="0" algn="l">
                        <a:lnSpc>
                          <a:spcPct val="95000"/>
                        </a:lnSpc>
                        <a:spcBef>
                          <a:spcPts val="0"/>
                        </a:spcBef>
                        <a:spcAft>
                          <a:spcPts val="0"/>
                        </a:spcAft>
                        <a:buNone/>
                      </a:pPr>
                      <a:r>
                        <a:rPr lang="en-US" sz="2000" b="1" dirty="0">
                          <a:solidFill>
                            <a:schemeClr val="tx2"/>
                          </a:solidFill>
                          <a:latin typeface="Arial"/>
                          <a:cs typeface="Arial"/>
                        </a:rPr>
                        <a:t>Low priority</a:t>
                      </a:r>
                    </a:p>
                    <a:p>
                      <a:pPr marL="0" indent="0" algn="l">
                        <a:lnSpc>
                          <a:spcPct val="95000"/>
                        </a:lnSpc>
                        <a:spcBef>
                          <a:spcPts val="200"/>
                        </a:spcBef>
                        <a:spcAft>
                          <a:spcPts val="0"/>
                        </a:spcAft>
                        <a:buNone/>
                      </a:pPr>
                      <a:r>
                        <a:rPr lang="en-US" sz="1200" i="1" dirty="0">
                          <a:solidFill>
                            <a:schemeClr val="tx2"/>
                          </a:solidFill>
                          <a:latin typeface="Arial"/>
                          <a:cs typeface="Arial"/>
                        </a:rPr>
                        <a:t>Level 2: Low severity, Probable</a:t>
                      </a:r>
                    </a:p>
                    <a:p>
                      <a:pPr marL="0" indent="0" algn="l">
                        <a:lnSpc>
                          <a:spcPct val="95000"/>
                        </a:lnSpc>
                        <a:spcBef>
                          <a:spcPts val="600"/>
                        </a:spcBef>
                        <a:spcAft>
                          <a:spcPts val="0"/>
                        </a:spcAft>
                        <a:buNone/>
                      </a:pPr>
                      <a:r>
                        <a:rPr lang="en-US" sz="1400" b="1" dirty="0">
                          <a:solidFill>
                            <a:schemeClr val="tx2"/>
                          </a:solidFill>
                          <a:latin typeface="Arial"/>
                          <a:cs typeface="Arial"/>
                        </a:rPr>
                        <a:t>STD-007-EXP </a:t>
                      </a:r>
                      <a:r>
                        <a:rPr lang="en-US" sz="1400" dirty="0">
                          <a:solidFill>
                            <a:schemeClr val="tx2"/>
                          </a:solidFill>
                          <a:latin typeface="Arial"/>
                          <a:cs typeface="Arial"/>
                        </a:rPr>
                        <a:t>Exceptions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indent="0" algn="l">
                        <a:lnSpc>
                          <a:spcPct val="95000"/>
                        </a:lnSpc>
                        <a:spcBef>
                          <a:spcPts val="0"/>
                        </a:spcBef>
                        <a:spcAft>
                          <a:spcPts val="0"/>
                        </a:spcAft>
                        <a:buNone/>
                      </a:pPr>
                      <a:r>
                        <a:rPr lang="en-US" sz="2000" b="1" dirty="0">
                          <a:solidFill>
                            <a:schemeClr val="tx2"/>
                          </a:solidFill>
                          <a:latin typeface="Arial"/>
                          <a:cs typeface="Arial"/>
                        </a:rPr>
                        <a:t>Unlikely</a:t>
                      </a:r>
                    </a:p>
                    <a:p>
                      <a:pPr marL="0" indent="0" algn="l">
                        <a:lnSpc>
                          <a:spcPct val="95000"/>
                        </a:lnSpc>
                        <a:spcBef>
                          <a:spcPts val="200"/>
                        </a:spcBef>
                        <a:spcAft>
                          <a:spcPts val="0"/>
                        </a:spcAft>
                        <a:buNone/>
                      </a:pPr>
                      <a:r>
                        <a:rPr lang="en-US" sz="1200" i="1" dirty="0">
                          <a:solidFill>
                            <a:schemeClr val="tx2"/>
                          </a:solidFill>
                          <a:latin typeface="Arial"/>
                          <a:cs typeface="Arial"/>
                        </a:rPr>
                        <a:t>Level 3: Medium severity, Unlikely</a:t>
                      </a:r>
                    </a:p>
                    <a:p>
                      <a:pPr marL="0" indent="0" algn="l">
                        <a:lnSpc>
                          <a:spcPct val="95000"/>
                        </a:lnSpc>
                        <a:spcBef>
                          <a:spcPts val="600"/>
                        </a:spcBef>
                        <a:spcAft>
                          <a:spcPts val="0"/>
                        </a:spcAft>
                        <a:buNone/>
                      </a:pPr>
                      <a:r>
                        <a:rPr lang="en-US" sz="1400" b="1" dirty="0">
                          <a:solidFill>
                            <a:schemeClr val="tx2"/>
                          </a:solidFill>
                          <a:latin typeface="Arial"/>
                          <a:cs typeface="Arial"/>
                        </a:rPr>
                        <a:t>STD-010-CEX </a:t>
                      </a:r>
                      <a:r>
                        <a:rPr lang="en-US" sz="1400" dirty="0">
                          <a:solidFill>
                            <a:schemeClr val="tx2"/>
                          </a:solidFill>
                          <a:latin typeface="Arial"/>
                          <a:cs typeface="Arial"/>
                        </a:rPr>
                        <a:t>Caught Exceptions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 name="Content Placeholder 4">
            <a:extLst>
              <a:ext uri="{FF2B5EF4-FFF2-40B4-BE49-F238E27FC236}">
                <a16:creationId xmlns:a16="http://schemas.microsoft.com/office/drawing/2014/main" id="{B7B368AA-C133-3212-3709-A53E6692A5F1}"/>
              </a:ext>
            </a:extLst>
          </p:cNvPr>
          <p:cNvGraphicFramePr>
            <a:graphicFrameLocks noGrp="1"/>
          </p:cNvGraphicFramePr>
          <p:nvPr>
            <p:ph idx="1"/>
            <p:extLst>
              <p:ext uri="{D42A27DB-BD31-4B8C-83A1-F6EECF244321}">
                <p14:modId xmlns:p14="http://schemas.microsoft.com/office/powerpoint/2010/main" val="3023776474"/>
              </p:ext>
            </p:extLst>
          </p:nvPr>
        </p:nvGraphicFramePr>
        <p:xfrm>
          <a:off x="1876092" y="1879600"/>
          <a:ext cx="4120671" cy="3098800"/>
        </p:xfrm>
        <a:graphic>
          <a:graphicData uri="http://schemas.openxmlformats.org/drawingml/2006/table">
            <a:tbl>
              <a:tblPr firstRow="1" firstCol="1">
                <a:tableStyleId>{802198C4-3087-4945-87E3-76CBB3509B7E}</a:tableStyleId>
              </a:tblPr>
              <a:tblGrid>
                <a:gridCol w="4120671">
                  <a:extLst>
                    <a:ext uri="{9D8B030D-6E8A-4147-A177-3AD203B41FA5}">
                      <a16:colId xmlns:a16="http://schemas.microsoft.com/office/drawing/2014/main" val="3767356429"/>
                    </a:ext>
                  </a:extLst>
                </a:gridCol>
              </a:tblGrid>
              <a:tr h="0">
                <a:tc>
                  <a:txBody>
                    <a:bodyPr/>
                    <a:lstStyle/>
                    <a:p>
                      <a:pPr marL="0" marR="0" lvl="0" indent="0">
                        <a:buFont typeface="+mj-lt"/>
                        <a:buNone/>
                      </a:pPr>
                      <a:r>
                        <a:rPr lang="en-US" sz="1200" dirty="0">
                          <a:effectLst/>
                        </a:rPr>
                        <a:t>Validate Input Data</a:t>
                      </a:r>
                      <a:endParaRPr lang="en-US" sz="1200" dirty="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769217832"/>
                  </a:ext>
                </a:extLst>
              </a:tr>
              <a:tr h="0">
                <a:tc>
                  <a:txBody>
                    <a:bodyPr/>
                    <a:lstStyle/>
                    <a:p>
                      <a:pPr marL="0" marR="0" lvl="0" indent="0">
                        <a:buFont typeface="+mj-lt"/>
                        <a:buNone/>
                      </a:pPr>
                      <a:r>
                        <a:rPr lang="en-US" sz="1200">
                          <a:effectLst/>
                        </a:rPr>
                        <a:t>Heed Compiler Warnings</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547369559"/>
                  </a:ext>
                </a:extLst>
              </a:tr>
              <a:tr h="0">
                <a:tc>
                  <a:txBody>
                    <a:bodyPr/>
                    <a:lstStyle/>
                    <a:p>
                      <a:pPr marL="0" marR="0" lvl="0" indent="0">
                        <a:buFont typeface="+mj-lt"/>
                        <a:buNone/>
                      </a:pPr>
                      <a:r>
                        <a:rPr lang="en-US" sz="1200" dirty="0">
                          <a:effectLst/>
                        </a:rPr>
                        <a:t>Architect and Design for Security Policies</a:t>
                      </a:r>
                      <a:endParaRPr lang="en-US" sz="1200" dirty="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3904818523"/>
                  </a:ext>
                </a:extLst>
              </a:tr>
              <a:tr h="0">
                <a:tc>
                  <a:txBody>
                    <a:bodyPr/>
                    <a:lstStyle/>
                    <a:p>
                      <a:pPr marL="0" marR="0" lvl="0" indent="0">
                        <a:buFont typeface="+mj-lt"/>
                        <a:buNone/>
                      </a:pPr>
                      <a:r>
                        <a:rPr lang="en-US" sz="1200">
                          <a:effectLst/>
                        </a:rPr>
                        <a:t>Keep It Simple</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3042747429"/>
                  </a:ext>
                </a:extLst>
              </a:tr>
              <a:tr h="0">
                <a:tc>
                  <a:txBody>
                    <a:bodyPr/>
                    <a:lstStyle/>
                    <a:p>
                      <a:pPr marL="0" marR="0" lvl="0" indent="0">
                        <a:buFont typeface="+mj-lt"/>
                        <a:buNone/>
                      </a:pPr>
                      <a:r>
                        <a:rPr lang="en-US" sz="1200">
                          <a:effectLst/>
                        </a:rPr>
                        <a:t>Default Deny</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1917548126"/>
                  </a:ext>
                </a:extLst>
              </a:tr>
              <a:tr h="0">
                <a:tc>
                  <a:txBody>
                    <a:bodyPr/>
                    <a:lstStyle/>
                    <a:p>
                      <a:pPr marL="0" marR="0" lvl="0" indent="0">
                        <a:buFont typeface="+mj-lt"/>
                        <a:buNone/>
                      </a:pPr>
                      <a:r>
                        <a:rPr lang="en-US" sz="1200">
                          <a:effectLst/>
                        </a:rPr>
                        <a:t>Adhere to the Principle of Least Privilege</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2827638952"/>
                  </a:ext>
                </a:extLst>
              </a:tr>
              <a:tr h="0">
                <a:tc>
                  <a:txBody>
                    <a:bodyPr/>
                    <a:lstStyle/>
                    <a:p>
                      <a:pPr marL="0" marR="0" lvl="0" indent="0">
                        <a:buFont typeface="+mj-lt"/>
                        <a:buNone/>
                      </a:pPr>
                      <a:r>
                        <a:rPr lang="en-US" sz="1200">
                          <a:effectLst/>
                        </a:rPr>
                        <a:t>Sanitize Data Sent to Other Systems</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3329370465"/>
                  </a:ext>
                </a:extLst>
              </a:tr>
              <a:tr h="0">
                <a:tc>
                  <a:txBody>
                    <a:bodyPr/>
                    <a:lstStyle/>
                    <a:p>
                      <a:pPr marL="0" marR="0" lvl="0" indent="0">
                        <a:buFont typeface="+mj-lt"/>
                        <a:buNone/>
                      </a:pPr>
                      <a:r>
                        <a:rPr lang="en-US" sz="1200">
                          <a:effectLst/>
                        </a:rPr>
                        <a:t>Practice Defense in Depth </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2010436356"/>
                  </a:ext>
                </a:extLst>
              </a:tr>
              <a:tr h="0">
                <a:tc>
                  <a:txBody>
                    <a:bodyPr/>
                    <a:lstStyle/>
                    <a:p>
                      <a:pPr marL="0" marR="0" lvl="0" indent="0">
                        <a:buFont typeface="+mj-lt"/>
                        <a:buNone/>
                      </a:pPr>
                      <a:r>
                        <a:rPr lang="en-US" sz="1200">
                          <a:effectLst/>
                        </a:rPr>
                        <a:t>Use Effective Quality Assurance Techniques</a:t>
                      </a:r>
                      <a:endParaRPr lang="en-US" sz="120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1304195299"/>
                  </a:ext>
                </a:extLst>
              </a:tr>
              <a:tr h="0">
                <a:tc>
                  <a:txBody>
                    <a:bodyPr/>
                    <a:lstStyle/>
                    <a:p>
                      <a:pPr marL="0" marR="0" lvl="0" indent="0">
                        <a:buFont typeface="+mj-lt"/>
                        <a:buNone/>
                      </a:pPr>
                      <a:r>
                        <a:rPr lang="en-US" sz="1200" dirty="0">
                          <a:effectLst/>
                        </a:rPr>
                        <a:t>Adopt a Secure Coding Standard</a:t>
                      </a:r>
                      <a:endParaRPr lang="en-US" sz="1200" dirty="0">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397992657"/>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idx="1"/>
          </p:nvPr>
        </p:nvSpPr>
        <p:spPr>
          <a:xfrm>
            <a:off x="1371600" y="1885218"/>
            <a:ext cx="9601200" cy="650631"/>
          </a:xfrm>
          <a:prstGeom prst="rect">
            <a:avLst/>
          </a:prstGeom>
          <a:noFill/>
          <a:ln>
            <a:noFill/>
          </a:ln>
        </p:spPr>
        <p:txBody>
          <a:bodyPr spcFirstLastPara="1" wrap="square" lIns="91425" tIns="45700" rIns="91425" bIns="45700" anchor="t" anchorCtr="0">
            <a:normAutofit fontScale="85000" lnSpcReduction="20000"/>
          </a:bodyPr>
          <a:lstStyle/>
          <a:p>
            <a:pPr marL="0" indent="0">
              <a:lnSpc>
                <a:spcPct val="90000"/>
              </a:lnSpc>
              <a:spcBef>
                <a:spcPts val="0"/>
              </a:spcBef>
              <a:spcAft>
                <a:spcPts val="0"/>
              </a:spcAft>
              <a:buClr>
                <a:schemeClr val="lt1"/>
              </a:buClr>
              <a:buSzPts val="2000"/>
              <a:buNone/>
            </a:pPr>
            <a:r>
              <a:rPr lang="en-US" b="1" dirty="0"/>
              <a:t>Ranking: </a:t>
            </a:r>
            <a:r>
              <a:rPr lang="en-US" dirty="0"/>
              <a:t>each standard is rated for severity, likelihood and remediation cost, giving a Level from 1 to 5. High severity and Likely is Level 5, High and Probable is Level 4, Medium is Level 3 and Low is Level 2. Higher levels are fixed first.</a:t>
            </a:r>
          </a:p>
          <a:p>
            <a:pPr marL="0" lvl="0" indent="0" algn="l" rtl="0">
              <a:lnSpc>
                <a:spcPct val="90000"/>
              </a:lnSpc>
              <a:spcBef>
                <a:spcPts val="0"/>
              </a:spcBef>
              <a:spcAft>
                <a:spcPts val="0"/>
              </a:spcAft>
              <a:buClr>
                <a:schemeClr val="lt1"/>
              </a:buClr>
              <a:buSzPts val="2000"/>
              <a:buNone/>
            </a:pP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3" name="Coding standards table" descr="Ten coding standards with severity, likelihood, remediation cost and level">
            <a:extLst>
              <a:ext uri="{FF2B5EF4-FFF2-40B4-BE49-F238E27FC236}">
                <a16:creationId xmlns:a16="http://schemas.microsoft.com/office/drawing/2014/main" id="{6CABC851-74FC-4B22-7C03-4E038EB169AD}"/>
              </a:ext>
            </a:extLst>
          </p:cNvPr>
          <p:cNvGraphicFramePr>
            <a:graphicFrameLocks noGrp="1"/>
          </p:cNvGraphicFramePr>
          <p:nvPr>
            <p:extLst>
              <p:ext uri="{D42A27DB-BD31-4B8C-83A1-F6EECF244321}">
                <p14:modId xmlns:p14="http://schemas.microsoft.com/office/powerpoint/2010/main" val="1675146263"/>
              </p:ext>
            </p:extLst>
          </p:nvPr>
        </p:nvGraphicFramePr>
        <p:xfrm>
          <a:off x="1371600" y="2535849"/>
          <a:ext cx="9601200" cy="3355000"/>
        </p:xfrm>
        <a:graphic>
          <a:graphicData uri="http://schemas.openxmlformats.org/drawingml/2006/table">
            <a:tbl>
              <a:tblPr firstRow="1">
                <a:tableStyleId>{802198C4-3087-4945-87E3-76CBB3509B7E}</a:tableStyleId>
              </a:tblPr>
              <a:tblGrid>
                <a:gridCol w="1800000">
                  <a:extLst>
                    <a:ext uri="{9D8B030D-6E8A-4147-A177-3AD203B41FA5}">
                      <a16:colId xmlns:a16="http://schemas.microsoft.com/office/drawing/2014/main" val="20000"/>
                    </a:ext>
                  </a:extLst>
                </a:gridCol>
                <a:gridCol w="28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400000">
                  <a:extLst>
                    <a:ext uri="{9D8B030D-6E8A-4147-A177-3AD203B41FA5}">
                      <a16:colId xmlns:a16="http://schemas.microsoft.com/office/drawing/2014/main" val="20003"/>
                    </a:ext>
                  </a:extLst>
                </a:gridCol>
                <a:gridCol w="1400000">
                  <a:extLst>
                    <a:ext uri="{9D8B030D-6E8A-4147-A177-3AD203B41FA5}">
                      <a16:colId xmlns:a16="http://schemas.microsoft.com/office/drawing/2014/main" val="20004"/>
                    </a:ext>
                  </a:extLst>
                </a:gridCol>
                <a:gridCol w="901200">
                  <a:extLst>
                    <a:ext uri="{9D8B030D-6E8A-4147-A177-3AD203B41FA5}">
                      <a16:colId xmlns:a16="http://schemas.microsoft.com/office/drawing/2014/main" val="20005"/>
                    </a:ext>
                  </a:extLst>
                </a:gridCol>
              </a:tblGrid>
              <a:tr h="305000">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Label</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Standard</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Severity</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Likelihood</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Fix cost</a:t>
                      </a:r>
                    </a:p>
                  </a:txBody>
                  <a:tcPr marL="72000" marR="72000" anchor="ctr">
                    <a:solidFill>
                      <a:schemeClr val="tx2"/>
                    </a:solidFill>
                  </a:tcPr>
                </a:tc>
                <a:tc>
                  <a:txBody>
                    <a:bodyPr/>
                    <a:lstStyle/>
                    <a:p>
                      <a:pPr marL="0" indent="0" algn="ctr">
                        <a:lnSpc>
                          <a:spcPct val="95000"/>
                        </a:lnSpc>
                        <a:spcBef>
                          <a:spcPts val="0"/>
                        </a:spcBef>
                        <a:spcAft>
                          <a:spcPts val="0"/>
                        </a:spcAft>
                        <a:buNone/>
                      </a:pPr>
                      <a:r>
                        <a:rPr lang="en-US" sz="1200" b="1" dirty="0">
                          <a:solidFill>
                            <a:schemeClr val="bg1"/>
                          </a:solidFill>
                          <a:latin typeface="Arial"/>
                          <a:cs typeface="Arial"/>
                        </a:rPr>
                        <a:t>Level</a:t>
                      </a:r>
                    </a:p>
                  </a:txBody>
                  <a:tcPr marL="72000" marR="72000" anchor="ctr">
                    <a:solidFill>
                      <a:schemeClr val="tx2"/>
                    </a:solidFill>
                  </a:tcPr>
                </a:tc>
                <a:extLst>
                  <a:ext uri="{0D108BD9-81ED-4DB2-BD59-A6C34878D82A}">
                    <a16:rowId xmlns:a16="http://schemas.microsoft.com/office/drawing/2014/main" val="10000"/>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STD-001-DTY</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Data Type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High</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Probable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b="1" dirty="0">
                          <a:solidFill>
                            <a:schemeClr val="tx2"/>
                          </a:solidFill>
                          <a:latin typeface="Arial"/>
                          <a:cs typeface="Arial"/>
                        </a:rPr>
                        <a:t>4</a:t>
                      </a:r>
                    </a:p>
                  </a:txBody>
                  <a:tcPr marL="72000" marR="72000" anchor="ctr"/>
                </a:tc>
                <a:extLst>
                  <a:ext uri="{0D108BD9-81ED-4DB2-BD59-A6C34878D82A}">
                    <a16:rowId xmlns:a16="http://schemas.microsoft.com/office/drawing/2014/main" val="10001"/>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STD-002-DVA</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Data Value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High</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Likely</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b="1" dirty="0">
                          <a:solidFill>
                            <a:schemeClr val="tx2"/>
                          </a:solidFill>
                          <a:latin typeface="Arial"/>
                          <a:cs typeface="Arial"/>
                        </a:rPr>
                        <a:t>5</a:t>
                      </a:r>
                    </a:p>
                  </a:txBody>
                  <a:tcPr marL="72000" marR="72000" anchor="ctr"/>
                </a:tc>
                <a:extLst>
                  <a:ext uri="{0D108BD9-81ED-4DB2-BD59-A6C34878D82A}">
                    <a16:rowId xmlns:a16="http://schemas.microsoft.com/office/drawing/2014/main" val="10002"/>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STD-003-STR</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String Correctness</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High</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Likely</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b="1" dirty="0">
                          <a:solidFill>
                            <a:schemeClr val="tx2"/>
                          </a:solidFill>
                          <a:latin typeface="Arial"/>
                          <a:cs typeface="Arial"/>
                        </a:rPr>
                        <a:t>5</a:t>
                      </a:r>
                    </a:p>
                  </a:txBody>
                  <a:tcPr marL="72000" marR="72000" anchor="ctr"/>
                </a:tc>
                <a:extLst>
                  <a:ext uri="{0D108BD9-81ED-4DB2-BD59-A6C34878D82A}">
                    <a16:rowId xmlns:a16="http://schemas.microsoft.com/office/drawing/2014/main" val="10003"/>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STD-004-SQL</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SQL Injection</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High</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Likely</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Low</a:t>
                      </a:r>
                    </a:p>
                  </a:txBody>
                  <a:tcPr marL="72000" marR="72000" anchor="ctr"/>
                </a:tc>
                <a:tc>
                  <a:txBody>
                    <a:bodyPr/>
                    <a:lstStyle/>
                    <a:p>
                      <a:pPr marL="0" indent="0" algn="ctr">
                        <a:lnSpc>
                          <a:spcPct val="95000"/>
                        </a:lnSpc>
                        <a:spcBef>
                          <a:spcPts val="0"/>
                        </a:spcBef>
                        <a:spcAft>
                          <a:spcPts val="0"/>
                        </a:spcAft>
                        <a:buNone/>
                      </a:pPr>
                      <a:r>
                        <a:rPr lang="en-US" sz="1200" b="1" dirty="0">
                          <a:solidFill>
                            <a:schemeClr val="tx2"/>
                          </a:solidFill>
                          <a:latin typeface="Arial"/>
                          <a:cs typeface="Arial"/>
                        </a:rPr>
                        <a:t>5</a:t>
                      </a:r>
                    </a:p>
                  </a:txBody>
                  <a:tcPr marL="72000" marR="72000" anchor="ctr"/>
                </a:tc>
                <a:extLst>
                  <a:ext uri="{0D108BD9-81ED-4DB2-BD59-A6C34878D82A}">
                    <a16:rowId xmlns:a16="http://schemas.microsoft.com/office/drawing/2014/main" val="10004"/>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STD-005-MEM</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Memory Protection</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High</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Probable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b="1" dirty="0">
                          <a:solidFill>
                            <a:schemeClr val="tx2"/>
                          </a:solidFill>
                          <a:latin typeface="Arial"/>
                          <a:cs typeface="Arial"/>
                        </a:rPr>
                        <a:t>4</a:t>
                      </a:r>
                    </a:p>
                  </a:txBody>
                  <a:tcPr marL="72000" marR="72000" anchor="ctr"/>
                </a:tc>
                <a:extLst>
                  <a:ext uri="{0D108BD9-81ED-4DB2-BD59-A6C34878D82A}">
                    <a16:rowId xmlns:a16="http://schemas.microsoft.com/office/drawing/2014/main" val="10005"/>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STD-006-ASR</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Assertions</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Probable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Low</a:t>
                      </a:r>
                    </a:p>
                  </a:txBody>
                  <a:tcPr marL="72000" marR="72000" anchor="ctr"/>
                </a:tc>
                <a:tc>
                  <a:txBody>
                    <a:bodyPr/>
                    <a:lstStyle/>
                    <a:p>
                      <a:pPr marL="0" indent="0" algn="ctr">
                        <a:lnSpc>
                          <a:spcPct val="95000"/>
                        </a:lnSpc>
                        <a:spcBef>
                          <a:spcPts val="0"/>
                        </a:spcBef>
                        <a:spcAft>
                          <a:spcPts val="0"/>
                        </a:spcAft>
                        <a:buNone/>
                      </a:pPr>
                      <a:r>
                        <a:rPr lang="en-US" sz="1200" dirty="0">
                          <a:solidFill>
                            <a:schemeClr val="tx2"/>
                          </a:solidFill>
                          <a:latin typeface="Arial"/>
                          <a:cs typeface="Arial"/>
                        </a:rPr>
                        <a:t>3</a:t>
                      </a:r>
                    </a:p>
                  </a:txBody>
                  <a:tcPr marL="72000" marR="72000" anchor="ctr"/>
                </a:tc>
                <a:extLst>
                  <a:ext uri="{0D108BD9-81ED-4DB2-BD59-A6C34878D82A}">
                    <a16:rowId xmlns:a16="http://schemas.microsoft.com/office/drawing/2014/main" val="10006"/>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STD-007-EXP</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Exceptions</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Low</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Probable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dirty="0">
                          <a:solidFill>
                            <a:schemeClr val="tx2"/>
                          </a:solidFill>
                          <a:latin typeface="Arial"/>
                          <a:cs typeface="Arial"/>
                        </a:rPr>
                        <a:t>2</a:t>
                      </a:r>
                    </a:p>
                  </a:txBody>
                  <a:tcPr marL="72000" marR="72000" anchor="ctr"/>
                </a:tc>
                <a:extLst>
                  <a:ext uri="{0D108BD9-81ED-4DB2-BD59-A6C34878D82A}">
                    <a16:rowId xmlns:a16="http://schemas.microsoft.com/office/drawing/2014/main" val="10007"/>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STD-008-MDD</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Memory Double Delete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High</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Probable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b="1" dirty="0">
                          <a:solidFill>
                            <a:schemeClr val="tx2"/>
                          </a:solidFill>
                          <a:latin typeface="Arial"/>
                          <a:cs typeface="Arial"/>
                        </a:rPr>
                        <a:t>4</a:t>
                      </a:r>
                    </a:p>
                  </a:txBody>
                  <a:tcPr marL="72000" marR="72000" anchor="ctr"/>
                </a:tc>
                <a:extLst>
                  <a:ext uri="{0D108BD9-81ED-4DB2-BD59-A6C34878D82A}">
                    <a16:rowId xmlns:a16="http://schemas.microsoft.com/office/drawing/2014/main" val="10008"/>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STD-009-DAS</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Disabled Assertion</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Probable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Low</a:t>
                      </a:r>
                    </a:p>
                  </a:txBody>
                  <a:tcPr marL="72000" marR="72000" anchor="ctr"/>
                </a:tc>
                <a:tc>
                  <a:txBody>
                    <a:bodyPr/>
                    <a:lstStyle/>
                    <a:p>
                      <a:pPr marL="0" indent="0" algn="ctr">
                        <a:lnSpc>
                          <a:spcPct val="95000"/>
                        </a:lnSpc>
                        <a:spcBef>
                          <a:spcPts val="0"/>
                        </a:spcBef>
                        <a:spcAft>
                          <a:spcPts val="0"/>
                        </a:spcAft>
                        <a:buNone/>
                      </a:pPr>
                      <a:r>
                        <a:rPr lang="en-US" sz="1200" dirty="0">
                          <a:solidFill>
                            <a:schemeClr val="tx2"/>
                          </a:solidFill>
                          <a:latin typeface="Arial"/>
                          <a:cs typeface="Arial"/>
                        </a:rPr>
                        <a:t>3</a:t>
                      </a:r>
                    </a:p>
                  </a:txBody>
                  <a:tcPr marL="72000" marR="72000" anchor="ctr"/>
                </a:tc>
                <a:extLst>
                  <a:ext uri="{0D108BD9-81ED-4DB2-BD59-A6C34878D82A}">
                    <a16:rowId xmlns:a16="http://schemas.microsoft.com/office/drawing/2014/main" val="10009"/>
                  </a:ext>
                </a:extLst>
              </a:tr>
              <a:tr h="305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STD-010-CEX</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Caught Exceptions</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Unlikely</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Medium</a:t>
                      </a:r>
                    </a:p>
                  </a:txBody>
                  <a:tcPr marL="72000" marR="72000" anchor="ctr"/>
                </a:tc>
                <a:tc>
                  <a:txBody>
                    <a:bodyPr/>
                    <a:lstStyle/>
                    <a:p>
                      <a:pPr marL="0" indent="0" algn="ctr">
                        <a:lnSpc>
                          <a:spcPct val="95000"/>
                        </a:lnSpc>
                        <a:spcBef>
                          <a:spcPts val="0"/>
                        </a:spcBef>
                        <a:spcAft>
                          <a:spcPts val="0"/>
                        </a:spcAft>
                        <a:buNone/>
                      </a:pPr>
                      <a:r>
                        <a:rPr lang="en-US" sz="1200" dirty="0">
                          <a:solidFill>
                            <a:schemeClr val="tx2"/>
                          </a:solidFill>
                          <a:latin typeface="Arial"/>
                          <a:cs typeface="Arial"/>
                        </a:rPr>
                        <a:t>3</a:t>
                      </a:r>
                    </a:p>
                  </a:txBody>
                  <a:tcPr marL="72000" marR="72000" anchor="ctr"/>
                </a:tc>
                <a:extLst>
                  <a:ext uri="{0D108BD9-81ED-4DB2-BD59-A6C34878D82A}">
                    <a16:rowId xmlns:a16="http://schemas.microsoft.com/office/drawing/2014/main" val="10010"/>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Encryption table" descr="Encryption at rest, in flight and in use">
            <a:extLst>
              <a:ext uri="{FF2B5EF4-FFF2-40B4-BE49-F238E27FC236}">
                <a16:creationId xmlns:a16="http://schemas.microsoft.com/office/drawing/2014/main" id="{A752AB6C-D924-4D84-FDB1-EEBACD7EBC44}"/>
              </a:ext>
            </a:extLst>
          </p:cNvPr>
          <p:cNvGraphicFramePr>
            <a:graphicFrameLocks noGrp="1"/>
          </p:cNvGraphicFramePr>
          <p:nvPr>
            <p:extLst>
              <p:ext uri="{D42A27DB-BD31-4B8C-83A1-F6EECF244321}">
                <p14:modId xmlns:p14="http://schemas.microsoft.com/office/powerpoint/2010/main" val="2645365094"/>
              </p:ext>
            </p:extLst>
          </p:nvPr>
        </p:nvGraphicFramePr>
        <p:xfrm>
          <a:off x="1260326" y="2171700"/>
          <a:ext cx="9601200" cy="4140000"/>
        </p:xfrm>
        <a:graphic>
          <a:graphicData uri="http://schemas.openxmlformats.org/drawingml/2006/table">
            <a:tbl>
              <a:tblPr firstRow="1">
                <a:tableStyleId>{802198C4-3087-4945-87E3-76CBB3509B7E}</a:tableStyleId>
              </a:tblPr>
              <a:tblGrid>
                <a:gridCol w="2500000">
                  <a:extLst>
                    <a:ext uri="{9D8B030D-6E8A-4147-A177-3AD203B41FA5}">
                      <a16:colId xmlns:a16="http://schemas.microsoft.com/office/drawing/2014/main" val="20000"/>
                    </a:ext>
                  </a:extLst>
                </a:gridCol>
                <a:gridCol w="7101200">
                  <a:extLst>
                    <a:ext uri="{9D8B030D-6E8A-4147-A177-3AD203B41FA5}">
                      <a16:colId xmlns:a16="http://schemas.microsoft.com/office/drawing/2014/main" val="20001"/>
                    </a:ext>
                  </a:extLst>
                </a:gridCol>
              </a:tblGrid>
              <a:tr h="1380000">
                <a:tc>
                  <a:txBody>
                    <a:bodyPr/>
                    <a:lstStyle/>
                    <a:p>
                      <a:pPr marL="0" indent="0" algn="l">
                        <a:lnSpc>
                          <a:spcPct val="95000"/>
                        </a:lnSpc>
                        <a:spcBef>
                          <a:spcPts val="0"/>
                        </a:spcBef>
                        <a:spcAft>
                          <a:spcPts val="0"/>
                        </a:spcAft>
                        <a:buNone/>
                      </a:pPr>
                      <a:r>
                        <a:rPr lang="en-US" sz="1700" b="1" dirty="0">
                          <a:solidFill>
                            <a:schemeClr val="bg1"/>
                          </a:solidFill>
                          <a:latin typeface="Arial"/>
                          <a:cs typeface="Arial"/>
                        </a:rPr>
                        <a:t>At rest</a:t>
                      </a:r>
                    </a:p>
                    <a:p>
                      <a:pPr marL="0" indent="0" algn="l">
                        <a:lnSpc>
                          <a:spcPct val="95000"/>
                        </a:lnSpc>
                        <a:spcBef>
                          <a:spcPts val="300"/>
                        </a:spcBef>
                        <a:spcAft>
                          <a:spcPts val="0"/>
                        </a:spcAft>
                        <a:buNone/>
                      </a:pPr>
                      <a:r>
                        <a:rPr lang="en-US" sz="1200" i="1" dirty="0">
                          <a:solidFill>
                            <a:schemeClr val="bg1"/>
                          </a:solidFill>
                          <a:latin typeface="Arial"/>
                          <a:cs typeface="Arial"/>
                        </a:rPr>
                        <a:t>Whenever data is written to persistent storage</a:t>
                      </a:r>
                    </a:p>
                  </a:txBody>
                  <a:tcPr marL="100000" marR="100000" marT="60000" marB="60000" anchor="ctr">
                    <a:solidFill>
                      <a:schemeClr val="tx2"/>
                    </a:solidFill>
                  </a:tcPr>
                </a:tc>
                <a:tc>
                  <a:txBody>
                    <a:bodyPr/>
                    <a:lstStyle/>
                    <a:p>
                      <a:pPr marL="228600" indent="-228600" algn="l">
                        <a:lnSpc>
                          <a:spcPct val="95000"/>
                        </a:lnSpc>
                        <a:spcBef>
                          <a:spcPts val="0"/>
                        </a:spcBef>
                        <a:spcAft>
                          <a:spcPts val="0"/>
                        </a:spcAft>
                        <a:buClr>
                          <a:schemeClr val="tx2"/>
                        </a:buClr>
                        <a:buFont typeface="Arial"/>
                        <a:buChar char="•"/>
                      </a:pPr>
                      <a:r>
                        <a:rPr lang="en-US" sz="1300" dirty="0">
                          <a:solidFill>
                            <a:schemeClr val="tx2"/>
                          </a:solidFill>
                          <a:latin typeface="Arial"/>
                          <a:cs typeface="Arial"/>
                        </a:rPr>
                        <a:t>Stolen media or a copied database file is unreadable: AES-256 or stronger for all sensitive data, using database or application-level encryption and full-disk encryption on servers and laptops.</a:t>
                      </a:r>
                    </a:p>
                    <a:p>
                      <a:pPr marL="228600" indent="-228600" algn="l">
                        <a:lnSpc>
                          <a:spcPct val="95000"/>
                        </a:lnSpc>
                        <a:spcBef>
                          <a:spcPts val="500"/>
                        </a:spcBef>
                        <a:spcAft>
                          <a:spcPts val="0"/>
                        </a:spcAft>
                        <a:buClr>
                          <a:schemeClr val="tx2"/>
                        </a:buClr>
                        <a:buFont typeface="Arial"/>
                        <a:buChar char="•"/>
                      </a:pPr>
                      <a:r>
                        <a:rPr lang="en-US" sz="1300" dirty="0">
                          <a:solidFill>
                            <a:schemeClr val="tx2"/>
                          </a:solidFill>
                          <a:latin typeface="Arial"/>
                          <a:cs typeface="Arial"/>
                        </a:rPr>
                        <a:t>Keys are held in a key management service or secrets manager, never in code or configuration files, rotated at least annually and stored apart from the data. Home-made schemes such as repeating-key XOR are not permitted.</a:t>
                      </a:r>
                    </a:p>
                  </a:txBody>
                  <a:tcPr marL="100000" marR="100000" marT="60000" marB="60000" anchor="ctr"/>
                </a:tc>
                <a:extLst>
                  <a:ext uri="{0D108BD9-81ED-4DB2-BD59-A6C34878D82A}">
                    <a16:rowId xmlns:a16="http://schemas.microsoft.com/office/drawing/2014/main" val="10000"/>
                  </a:ext>
                </a:extLst>
              </a:tr>
              <a:tr h="1380000">
                <a:tc>
                  <a:txBody>
                    <a:bodyPr/>
                    <a:lstStyle/>
                    <a:p>
                      <a:pPr marL="0" indent="0" algn="l">
                        <a:lnSpc>
                          <a:spcPct val="95000"/>
                        </a:lnSpc>
                        <a:spcBef>
                          <a:spcPts val="0"/>
                        </a:spcBef>
                        <a:spcAft>
                          <a:spcPts val="0"/>
                        </a:spcAft>
                        <a:buNone/>
                      </a:pPr>
                      <a:r>
                        <a:rPr lang="en-US" sz="1700" b="1" dirty="0">
                          <a:solidFill>
                            <a:schemeClr val="bg1"/>
                          </a:solidFill>
                          <a:latin typeface="Arial"/>
                          <a:cs typeface="Arial"/>
                        </a:rPr>
                        <a:t>In flight</a:t>
                      </a:r>
                    </a:p>
                    <a:p>
                      <a:pPr marL="0" indent="0" algn="l">
                        <a:lnSpc>
                          <a:spcPct val="95000"/>
                        </a:lnSpc>
                        <a:spcBef>
                          <a:spcPts val="300"/>
                        </a:spcBef>
                        <a:spcAft>
                          <a:spcPts val="0"/>
                        </a:spcAft>
                        <a:buNone/>
                      </a:pPr>
                      <a:r>
                        <a:rPr lang="en-US" sz="1200" i="1" dirty="0">
                          <a:solidFill>
                            <a:schemeClr val="bg1"/>
                          </a:solidFill>
                          <a:latin typeface="Arial"/>
                          <a:cs typeface="Arial"/>
                        </a:rPr>
                        <a:t>On every network hop, including internal ones</a:t>
                      </a:r>
                    </a:p>
                  </a:txBody>
                  <a:tcPr marL="100000" marR="100000" marT="60000" marB="60000" anchor="ctr">
                    <a:solidFill>
                      <a:schemeClr val="tx2"/>
                    </a:solidFill>
                  </a:tcPr>
                </a:tc>
                <a:tc>
                  <a:txBody>
                    <a:bodyPr/>
                    <a:lstStyle/>
                    <a:p>
                      <a:pPr marL="228600" indent="-228600" algn="l">
                        <a:lnSpc>
                          <a:spcPct val="95000"/>
                        </a:lnSpc>
                        <a:spcBef>
                          <a:spcPts val="0"/>
                        </a:spcBef>
                        <a:spcAft>
                          <a:spcPts val="0"/>
                        </a:spcAft>
                        <a:buClr>
                          <a:schemeClr val="tx2"/>
                        </a:buClr>
                        <a:buFont typeface="Arial"/>
                        <a:buChar char="•"/>
                      </a:pPr>
                      <a:r>
                        <a:rPr lang="en-US" sz="1300" dirty="0">
                          <a:solidFill>
                            <a:schemeClr val="tx2"/>
                          </a:solidFill>
                          <a:latin typeface="Arial"/>
                          <a:cs typeface="Arial"/>
                        </a:rPr>
                        <a:t>Anyone on the network path cannot read or alter the data: TLS 1.2 or higher with valid, verified certificates, and certificate validation is never disabled.</a:t>
                      </a:r>
                    </a:p>
                    <a:p>
                      <a:pPr marL="228600" indent="-228600" algn="l">
                        <a:lnSpc>
                          <a:spcPct val="95000"/>
                        </a:lnSpc>
                        <a:spcBef>
                          <a:spcPts val="500"/>
                        </a:spcBef>
                        <a:spcAft>
                          <a:spcPts val="0"/>
                        </a:spcAft>
                        <a:buClr>
                          <a:schemeClr val="tx2"/>
                        </a:buClr>
                        <a:buFont typeface="Arial"/>
                        <a:buChar char="•"/>
                      </a:pPr>
                      <a:r>
                        <a:rPr lang="en-US" sz="1300" dirty="0">
                          <a:solidFill>
                            <a:schemeClr val="tx2"/>
                          </a:solidFill>
                          <a:latin typeface="Arial"/>
                          <a:cs typeface="Arial"/>
                        </a:rPr>
                        <a:t>Service-to-service traffic uses TLS or mutual TLS, database connections require TLS, and remote administration uses SSH or a VPN. Plain HTTP, FTP and Telnet are prohibited.</a:t>
                      </a:r>
                    </a:p>
                  </a:txBody>
                  <a:tcPr marL="100000" marR="100000" marT="60000" marB="60000" anchor="ctr"/>
                </a:tc>
                <a:extLst>
                  <a:ext uri="{0D108BD9-81ED-4DB2-BD59-A6C34878D82A}">
                    <a16:rowId xmlns:a16="http://schemas.microsoft.com/office/drawing/2014/main" val="10001"/>
                  </a:ext>
                </a:extLst>
              </a:tr>
              <a:tr h="1380000">
                <a:tc>
                  <a:txBody>
                    <a:bodyPr/>
                    <a:lstStyle/>
                    <a:p>
                      <a:pPr marL="0" indent="0" algn="l">
                        <a:lnSpc>
                          <a:spcPct val="95000"/>
                        </a:lnSpc>
                        <a:spcBef>
                          <a:spcPts val="0"/>
                        </a:spcBef>
                        <a:spcAft>
                          <a:spcPts val="0"/>
                        </a:spcAft>
                        <a:buNone/>
                      </a:pPr>
                      <a:r>
                        <a:rPr lang="en-US" sz="1700" b="1" dirty="0">
                          <a:solidFill>
                            <a:schemeClr val="bg1"/>
                          </a:solidFill>
                          <a:latin typeface="Arial"/>
                          <a:cs typeface="Arial"/>
                        </a:rPr>
                        <a:t>In use</a:t>
                      </a:r>
                    </a:p>
                    <a:p>
                      <a:pPr marL="0" indent="0" algn="l">
                        <a:lnSpc>
                          <a:spcPct val="95000"/>
                        </a:lnSpc>
                        <a:spcBef>
                          <a:spcPts val="300"/>
                        </a:spcBef>
                        <a:spcAft>
                          <a:spcPts val="0"/>
                        </a:spcAft>
                        <a:buNone/>
                      </a:pPr>
                      <a:r>
                        <a:rPr lang="en-US" sz="1200" i="1" dirty="0">
                          <a:solidFill>
                            <a:schemeClr val="bg1"/>
                          </a:solidFill>
                          <a:latin typeface="Arial"/>
                          <a:cs typeface="Arial"/>
                        </a:rPr>
                        <a:t>Whenever sensitive data is processed</a:t>
                      </a:r>
                    </a:p>
                  </a:txBody>
                  <a:tcPr marL="100000" marR="100000" marT="60000" marB="60000" anchor="ctr">
                    <a:solidFill>
                      <a:schemeClr val="tx2"/>
                    </a:solidFill>
                  </a:tcPr>
                </a:tc>
                <a:tc>
                  <a:txBody>
                    <a:bodyPr/>
                    <a:lstStyle/>
                    <a:p>
                      <a:pPr marL="228600" indent="-228600" algn="l">
                        <a:lnSpc>
                          <a:spcPct val="95000"/>
                        </a:lnSpc>
                        <a:spcBef>
                          <a:spcPts val="0"/>
                        </a:spcBef>
                        <a:spcAft>
                          <a:spcPts val="0"/>
                        </a:spcAft>
                        <a:buClr>
                          <a:schemeClr val="tx2"/>
                        </a:buClr>
                        <a:buFont typeface="Arial"/>
                        <a:buChar char="•"/>
                      </a:pPr>
                      <a:r>
                        <a:rPr lang="en-US" sz="1300" dirty="0">
                          <a:solidFill>
                            <a:schemeClr val="tx2"/>
                          </a:solidFill>
                          <a:latin typeface="Arial"/>
                          <a:cs typeface="Arial"/>
                        </a:rPr>
                        <a:t>Data in memory must be decrypted to be used, so the policy limits how long and where it exists in clear form: decrypt only when needed, overwrite buffers with a function the compiler cannot optimize away, disable core dumps and lock sensitive pages out of swap.</a:t>
                      </a:r>
                    </a:p>
                    <a:p>
                      <a:pPr marL="228600" indent="-228600" algn="l">
                        <a:lnSpc>
                          <a:spcPct val="95000"/>
                        </a:lnSpc>
                        <a:spcBef>
                          <a:spcPts val="500"/>
                        </a:spcBef>
                        <a:spcAft>
                          <a:spcPts val="0"/>
                        </a:spcAft>
                        <a:buClr>
                          <a:schemeClr val="tx2"/>
                        </a:buClr>
                        <a:buFont typeface="Arial"/>
                        <a:buChar char="•"/>
                      </a:pPr>
                      <a:r>
                        <a:rPr lang="en-US" sz="1300" dirty="0">
                          <a:solidFill>
                            <a:schemeClr val="tx2"/>
                          </a:solidFill>
                          <a:latin typeface="Arial"/>
                          <a:cs typeface="Arial"/>
                        </a:rPr>
                        <a:t>Highly sensitive workloads run in a hardware-backed trusted execution environment; display and logging use masking or tokenization. Memory bugs such as use-after-free (STD-005-MEM) and buffer overreads (STD-003-STR) expose exactly this data.</a:t>
                      </a:r>
                    </a:p>
                  </a:txBody>
                  <a:tcPr marL="100000" marR="100000" marT="60000" marB="60000" anchor="ctr"/>
                </a:tc>
                <a:extLst>
                  <a:ext uri="{0D108BD9-81ED-4DB2-BD59-A6C34878D82A}">
                    <a16:rowId xmlns:a16="http://schemas.microsoft.com/office/drawing/2014/main" val="10002"/>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7" name="Triple-A table" descr="Authentication, authorization and accounting policies">
            <a:extLst>
              <a:ext uri="{FF2B5EF4-FFF2-40B4-BE49-F238E27FC236}">
                <a16:creationId xmlns:a16="http://schemas.microsoft.com/office/drawing/2014/main" id="{18B1E19B-5030-76A9-A9F5-E9C1807B91CA}"/>
              </a:ext>
            </a:extLst>
          </p:cNvPr>
          <p:cNvGraphicFramePr>
            <a:graphicFrameLocks noGrp="1"/>
          </p:cNvGraphicFramePr>
          <p:nvPr>
            <p:extLst>
              <p:ext uri="{D42A27DB-BD31-4B8C-83A1-F6EECF244321}">
                <p14:modId xmlns:p14="http://schemas.microsoft.com/office/powerpoint/2010/main" val="2173653896"/>
              </p:ext>
            </p:extLst>
          </p:nvPr>
        </p:nvGraphicFramePr>
        <p:xfrm>
          <a:off x="1371600" y="1950000"/>
          <a:ext cx="9601200" cy="4159652"/>
        </p:xfrm>
        <a:graphic>
          <a:graphicData uri="http://schemas.openxmlformats.org/drawingml/2006/table">
            <a:tbl>
              <a:tblPr firstRow="1">
                <a:tableStyleId>{802198C4-3087-4945-87E3-76CBB3509B7E}</a:tableStyleId>
              </a:tblPr>
              <a:tblGrid>
                <a:gridCol w="2500000">
                  <a:extLst>
                    <a:ext uri="{9D8B030D-6E8A-4147-A177-3AD203B41FA5}">
                      <a16:colId xmlns:a16="http://schemas.microsoft.com/office/drawing/2014/main" val="20000"/>
                    </a:ext>
                  </a:extLst>
                </a:gridCol>
                <a:gridCol w="7101200">
                  <a:extLst>
                    <a:ext uri="{9D8B030D-6E8A-4147-A177-3AD203B41FA5}">
                      <a16:colId xmlns:a16="http://schemas.microsoft.com/office/drawing/2014/main" val="20001"/>
                    </a:ext>
                  </a:extLst>
                </a:gridCol>
              </a:tblGrid>
              <a:tr h="1380000">
                <a:tc>
                  <a:txBody>
                    <a:bodyPr/>
                    <a:lstStyle/>
                    <a:p>
                      <a:pPr marL="0" indent="0" algn="l">
                        <a:lnSpc>
                          <a:spcPct val="95000"/>
                        </a:lnSpc>
                        <a:spcBef>
                          <a:spcPts val="0"/>
                        </a:spcBef>
                        <a:spcAft>
                          <a:spcPts val="0"/>
                        </a:spcAft>
                        <a:buNone/>
                      </a:pPr>
                      <a:r>
                        <a:rPr lang="en-US" sz="1700" b="1" dirty="0">
                          <a:solidFill>
                            <a:schemeClr val="bg1"/>
                          </a:solidFill>
                          <a:latin typeface="Arial"/>
                          <a:cs typeface="Arial"/>
                        </a:rPr>
                        <a:t>Authentication</a:t>
                      </a:r>
                    </a:p>
                    <a:p>
                      <a:pPr marL="0" indent="0" algn="l">
                        <a:lnSpc>
                          <a:spcPct val="95000"/>
                        </a:lnSpc>
                        <a:spcBef>
                          <a:spcPts val="300"/>
                        </a:spcBef>
                        <a:spcAft>
                          <a:spcPts val="0"/>
                        </a:spcAft>
                        <a:buNone/>
                      </a:pPr>
                      <a:r>
                        <a:rPr lang="en-US" sz="1200" i="1" dirty="0">
                          <a:solidFill>
                            <a:schemeClr val="bg1"/>
                          </a:solidFill>
                          <a:latin typeface="Arial"/>
                          <a:cs typeface="Arial"/>
                        </a:rPr>
                        <a:t>Who are you?</a:t>
                      </a:r>
                    </a:p>
                  </a:txBody>
                  <a:tcPr marL="100000" marR="100000" marT="60000" marB="60000" anchor="ctr">
                    <a:solidFill>
                      <a:schemeClr val="tx2"/>
                    </a:solidFill>
                  </a:tcPr>
                </a:tc>
                <a:tc>
                  <a:txBody>
                    <a:bodyPr/>
                    <a:lstStyle/>
                    <a:p>
                      <a:pPr marL="228600" indent="-228600" algn="l">
                        <a:lnSpc>
                          <a:spcPct val="95000"/>
                        </a:lnSpc>
                        <a:spcBef>
                          <a:spcPts val="0"/>
                        </a:spcBef>
                        <a:spcAft>
                          <a:spcPts val="0"/>
                        </a:spcAft>
                        <a:buClr>
                          <a:schemeClr val="tx2"/>
                        </a:buClr>
                        <a:buFont typeface="Arial"/>
                        <a:buChar char="•"/>
                      </a:pPr>
                      <a:r>
                        <a:rPr lang="en-US" sz="1400" dirty="0">
                          <a:solidFill>
                            <a:schemeClr val="tx2"/>
                          </a:solidFill>
                          <a:latin typeface="Arial"/>
                          <a:cs typeface="Arial"/>
                        </a:rPr>
                        <a:t>Proves a user or service is who it claims to be unique accounts through the central identity provider, with multi-factor authentication for all administrative and remote access.</a:t>
                      </a:r>
                    </a:p>
                    <a:p>
                      <a:pPr marL="228600" indent="-228600" algn="l">
                        <a:lnSpc>
                          <a:spcPct val="95000"/>
                        </a:lnSpc>
                        <a:spcBef>
                          <a:spcPts val="500"/>
                        </a:spcBef>
                        <a:spcAft>
                          <a:spcPts val="0"/>
                        </a:spcAft>
                        <a:buClr>
                          <a:schemeClr val="tx2"/>
                        </a:buClr>
                        <a:buFont typeface="Arial"/>
                        <a:buChar char="•"/>
                      </a:pPr>
                      <a:r>
                        <a:rPr lang="en-US" sz="1400" dirty="0">
                          <a:solidFill>
                            <a:schemeClr val="tx2"/>
                          </a:solidFill>
                          <a:latin typeface="Arial"/>
                          <a:cs typeface="Arial"/>
                        </a:rPr>
                        <a:t>Passwords are kept only as salted, slow hashes, accounts lock after repeated failures, and services use certificates or short-lived tokens, never hard-coded passwords.</a:t>
                      </a:r>
                    </a:p>
                  </a:txBody>
                  <a:tcPr marL="100000" marR="100000" marT="60000" marB="60000" anchor="ctr"/>
                </a:tc>
                <a:extLst>
                  <a:ext uri="{0D108BD9-81ED-4DB2-BD59-A6C34878D82A}">
                    <a16:rowId xmlns:a16="http://schemas.microsoft.com/office/drawing/2014/main" val="10000"/>
                  </a:ext>
                </a:extLst>
              </a:tr>
              <a:tr h="1380000">
                <a:tc>
                  <a:txBody>
                    <a:bodyPr/>
                    <a:lstStyle/>
                    <a:p>
                      <a:pPr marL="0" indent="0" algn="l">
                        <a:lnSpc>
                          <a:spcPct val="95000"/>
                        </a:lnSpc>
                        <a:spcBef>
                          <a:spcPts val="0"/>
                        </a:spcBef>
                        <a:spcAft>
                          <a:spcPts val="0"/>
                        </a:spcAft>
                        <a:buNone/>
                      </a:pPr>
                      <a:r>
                        <a:rPr lang="en-US" sz="1700" b="1" dirty="0">
                          <a:solidFill>
                            <a:schemeClr val="bg1"/>
                          </a:solidFill>
                          <a:latin typeface="Arial"/>
                          <a:cs typeface="Arial"/>
                        </a:rPr>
                        <a:t>Authorization</a:t>
                      </a:r>
                    </a:p>
                    <a:p>
                      <a:pPr marL="0" indent="0" algn="l">
                        <a:lnSpc>
                          <a:spcPct val="95000"/>
                        </a:lnSpc>
                        <a:spcBef>
                          <a:spcPts val="300"/>
                        </a:spcBef>
                        <a:spcAft>
                          <a:spcPts val="0"/>
                        </a:spcAft>
                        <a:buNone/>
                      </a:pPr>
                      <a:r>
                        <a:rPr lang="en-US" sz="1200" i="1" dirty="0">
                          <a:solidFill>
                            <a:schemeClr val="bg1"/>
                          </a:solidFill>
                          <a:latin typeface="Arial"/>
                          <a:cs typeface="Arial"/>
                        </a:rPr>
                        <a:t>What may you do?</a:t>
                      </a:r>
                    </a:p>
                  </a:txBody>
                  <a:tcPr marL="100000" marR="100000" marT="60000" marB="60000" anchor="ctr">
                    <a:solidFill>
                      <a:schemeClr val="tx2"/>
                    </a:solidFill>
                  </a:tcPr>
                </a:tc>
                <a:tc>
                  <a:txBody>
                    <a:bodyPr/>
                    <a:lstStyle/>
                    <a:p>
                      <a:pPr marL="228600" indent="-228600" algn="l">
                        <a:lnSpc>
                          <a:spcPct val="95000"/>
                        </a:lnSpc>
                        <a:spcBef>
                          <a:spcPts val="0"/>
                        </a:spcBef>
                        <a:spcAft>
                          <a:spcPts val="0"/>
                        </a:spcAft>
                        <a:buClr>
                          <a:schemeClr val="tx2"/>
                        </a:buClr>
                        <a:buFont typeface="Arial"/>
                        <a:buChar char="•"/>
                      </a:pPr>
                      <a:r>
                        <a:rPr lang="en-US" sz="1400" dirty="0">
                          <a:solidFill>
                            <a:schemeClr val="tx2"/>
                          </a:solidFill>
                          <a:latin typeface="Arial"/>
                          <a:cs typeface="Arial"/>
                        </a:rPr>
                        <a:t>Decides what an authenticated identity may do. Default deny and least privilege: roles grant only what a job needs, and access is checked on the server for every request.</a:t>
                      </a:r>
                    </a:p>
                    <a:p>
                      <a:pPr marL="228600" indent="-228600" algn="l">
                        <a:lnSpc>
                          <a:spcPct val="95000"/>
                        </a:lnSpc>
                        <a:spcBef>
                          <a:spcPts val="500"/>
                        </a:spcBef>
                        <a:spcAft>
                          <a:spcPts val="0"/>
                        </a:spcAft>
                        <a:buClr>
                          <a:schemeClr val="tx2"/>
                        </a:buClr>
                        <a:buFont typeface="Arial"/>
                        <a:buChar char="•"/>
                      </a:pPr>
                      <a:r>
                        <a:rPr lang="en-US" sz="1400" dirty="0">
                          <a:solidFill>
                            <a:schemeClr val="tx2"/>
                          </a:solidFill>
                          <a:latin typeface="Arial"/>
                          <a:cs typeface="Arial"/>
                        </a:rPr>
                        <a:t>New users need a written request, manager approval and a role-catalog access level; privileged roles need CISO-office approval. Access is reviewed quarterly.</a:t>
                      </a:r>
                    </a:p>
                  </a:txBody>
                  <a:tcPr marL="100000" marR="100000" marT="60000" marB="60000" anchor="ctr"/>
                </a:tc>
                <a:extLst>
                  <a:ext uri="{0D108BD9-81ED-4DB2-BD59-A6C34878D82A}">
                    <a16:rowId xmlns:a16="http://schemas.microsoft.com/office/drawing/2014/main" val="10001"/>
                  </a:ext>
                </a:extLst>
              </a:tr>
              <a:tr h="1380000">
                <a:tc>
                  <a:txBody>
                    <a:bodyPr/>
                    <a:lstStyle/>
                    <a:p>
                      <a:pPr marL="0" indent="0" algn="l">
                        <a:lnSpc>
                          <a:spcPct val="95000"/>
                        </a:lnSpc>
                        <a:spcBef>
                          <a:spcPts val="0"/>
                        </a:spcBef>
                        <a:spcAft>
                          <a:spcPts val="0"/>
                        </a:spcAft>
                        <a:buNone/>
                      </a:pPr>
                      <a:r>
                        <a:rPr lang="en-US" sz="1700" b="1" dirty="0">
                          <a:solidFill>
                            <a:schemeClr val="bg1"/>
                          </a:solidFill>
                          <a:latin typeface="Arial"/>
                          <a:cs typeface="Arial"/>
                        </a:rPr>
                        <a:t>Accounting</a:t>
                      </a:r>
                    </a:p>
                    <a:p>
                      <a:pPr marL="0" indent="0" algn="l">
                        <a:lnSpc>
                          <a:spcPct val="95000"/>
                        </a:lnSpc>
                        <a:spcBef>
                          <a:spcPts val="300"/>
                        </a:spcBef>
                        <a:spcAft>
                          <a:spcPts val="0"/>
                        </a:spcAft>
                        <a:buNone/>
                      </a:pPr>
                      <a:r>
                        <a:rPr lang="en-US" sz="1200" i="1" dirty="0">
                          <a:solidFill>
                            <a:schemeClr val="bg1"/>
                          </a:solidFill>
                          <a:latin typeface="Arial"/>
                          <a:cs typeface="Arial"/>
                        </a:rPr>
                        <a:t>What did you do?</a:t>
                      </a:r>
                    </a:p>
                  </a:txBody>
                  <a:tcPr marL="100000" marR="100000" marT="60000" marB="60000" anchor="ctr">
                    <a:solidFill>
                      <a:schemeClr val="tx2"/>
                    </a:solidFill>
                  </a:tcPr>
                </a:tc>
                <a:tc>
                  <a:txBody>
                    <a:bodyPr/>
                    <a:lstStyle/>
                    <a:p>
                      <a:pPr marL="228600" indent="-228600" algn="l">
                        <a:lnSpc>
                          <a:spcPct val="95000"/>
                        </a:lnSpc>
                        <a:spcBef>
                          <a:spcPts val="0"/>
                        </a:spcBef>
                        <a:spcAft>
                          <a:spcPts val="0"/>
                        </a:spcAft>
                        <a:buClr>
                          <a:schemeClr val="tx2"/>
                        </a:buClr>
                        <a:buFont typeface="Arial"/>
                        <a:buChar char="•"/>
                      </a:pPr>
                      <a:r>
                        <a:rPr lang="en-US" sz="1400" dirty="0">
                          <a:solidFill>
                            <a:schemeClr val="tx2"/>
                          </a:solidFill>
                          <a:latin typeface="Arial"/>
                          <a:cs typeface="Arial"/>
                        </a:rPr>
                        <a:t>Audit records cover logins, database changes, new users, access-level changes and files accessed, sent to central storage that application administrators cannot alter.</a:t>
                      </a:r>
                    </a:p>
                    <a:p>
                      <a:pPr marL="228600" indent="-228600" algn="l">
                        <a:lnSpc>
                          <a:spcPct val="95000"/>
                        </a:lnSpc>
                        <a:spcBef>
                          <a:spcPts val="500"/>
                        </a:spcBef>
                        <a:spcAft>
                          <a:spcPts val="0"/>
                        </a:spcAft>
                        <a:buClr>
                          <a:schemeClr val="tx2"/>
                        </a:buClr>
                        <a:buFont typeface="Arial"/>
                        <a:buChar char="•"/>
                      </a:pPr>
                      <a:r>
                        <a:rPr lang="en-US" sz="1400" dirty="0">
                          <a:solidFill>
                            <a:schemeClr val="tx2"/>
                          </a:solidFill>
                          <a:latin typeface="Arial"/>
                          <a:cs typeface="Arial"/>
                        </a:rPr>
                        <a:t>Logs are kept at least 12 months, never contain passwords or full card or account numbers, and are reviewed by the CISO's office for the monthly risk report.</a:t>
                      </a:r>
                    </a:p>
                  </a:txBody>
                  <a:tcPr marL="100000" marR="100000" marT="60000" marB="60000" anchor="ctr"/>
                </a:tc>
                <a:extLst>
                  <a:ext uri="{0D108BD9-81ED-4DB2-BD59-A6C34878D82A}">
                    <a16:rowId xmlns:a16="http://schemas.microsoft.com/office/drawing/2014/main" val="10002"/>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28600" indent="-228600">
              <a:lnSpc>
                <a:spcPct val="95000"/>
              </a:lnSpc>
              <a:spcBef>
                <a:spcPts val="0"/>
              </a:spcBef>
              <a:spcAft>
                <a:spcPts val="0"/>
              </a:spcAft>
              <a:buClr>
                <a:schemeClr val="tx2"/>
              </a:buClr>
              <a:buFont typeface="Arial"/>
              <a:buChar char="•"/>
            </a:pPr>
            <a:r>
              <a:rPr lang="en-US" b="1" dirty="0"/>
              <a:t>Run on every build: </a:t>
            </a:r>
            <a:r>
              <a:rPr lang="en-US" dirty="0"/>
              <a:t>security tests sit alongside the </a:t>
            </a:r>
            <a:r>
              <a:rPr lang="en-US" dirty="0" err="1"/>
              <a:t>Cppcheck</a:t>
            </a:r>
            <a:r>
              <a:rPr lang="en-US" dirty="0"/>
              <a:t> and Clang-Tidy checks, and a failing check fails the build.</a:t>
            </a:r>
          </a:p>
          <a:p>
            <a:pPr marL="228600" indent="-228600">
              <a:lnSpc>
                <a:spcPct val="95000"/>
              </a:lnSpc>
              <a:spcBef>
                <a:spcPts val="900"/>
              </a:spcBef>
              <a:spcAft>
                <a:spcPts val="0"/>
              </a:spcAft>
              <a:buClr>
                <a:schemeClr val="tx2"/>
              </a:buClr>
              <a:buFont typeface="Arial"/>
              <a:buChar char="•"/>
            </a:pPr>
            <a:r>
              <a:rPr lang="en-US" b="1" dirty="0"/>
              <a:t>Negative and boundary inputs </a:t>
            </a:r>
            <a:r>
              <a:rPr lang="en-US" dirty="0"/>
              <a:t>for the Data Type, Data Value, String Correctness and Disabled Assertion standards, confirming that invalid input is rejected.</a:t>
            </a:r>
          </a:p>
          <a:p>
            <a:pPr marL="228600" indent="-228600">
              <a:lnSpc>
                <a:spcPct val="95000"/>
              </a:lnSpc>
              <a:spcBef>
                <a:spcPts val="900"/>
              </a:spcBef>
              <a:spcAft>
                <a:spcPts val="0"/>
              </a:spcAft>
              <a:buClr>
                <a:schemeClr val="tx2"/>
              </a:buClr>
              <a:buFont typeface="Arial"/>
              <a:buChar char="•"/>
            </a:pPr>
            <a:r>
              <a:rPr lang="en-US" b="1" dirty="0"/>
              <a:t>Second run on a Release build </a:t>
            </a:r>
            <a:r>
              <a:rPr lang="en-US" dirty="0"/>
              <a:t>(NDEBUG defined), which exposes any validation written as an assert (STD-009).</a:t>
            </a:r>
          </a:p>
          <a:p>
            <a:pPr marL="228600" indent="-228600">
              <a:lnSpc>
                <a:spcPct val="95000"/>
              </a:lnSpc>
              <a:spcBef>
                <a:spcPts val="900"/>
              </a:spcBef>
              <a:spcAft>
                <a:spcPts val="0"/>
              </a:spcAft>
              <a:buClr>
                <a:schemeClr val="tx2"/>
              </a:buClr>
              <a:buFont typeface="Arial"/>
              <a:buChar char="•"/>
            </a:pPr>
            <a:r>
              <a:rPr lang="en-US" b="1" dirty="0"/>
              <a:t>Round-trip tests </a:t>
            </a:r>
            <a:r>
              <a:rPr lang="en-US" dirty="0"/>
              <a:t>for the encryption code; the compliance check confirms every gate passed before release.</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idx="1"/>
          </p:nvPr>
        </p:nvPicPr>
        <p:blipFill rotWithShape="1">
          <a:blip r:embed="rId4">
            <a:alphaModFix/>
          </a:blip>
          <a:stretch/>
        </p:blipFill>
        <p:spPr>
          <a:xfrm>
            <a:off x="2627634" y="2286000"/>
            <a:ext cx="7089131" cy="35814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idx="1"/>
          </p:nvPr>
        </p:nvSpPr>
        <p:spPr>
          <a:xfrm>
            <a:off x="1371600" y="2286000"/>
            <a:ext cx="9601200" cy="967154"/>
          </a:xfrm>
          <a:prstGeom prst="rect">
            <a:avLst/>
          </a:prstGeom>
          <a:noFill/>
          <a:ln>
            <a:noFill/>
          </a:ln>
        </p:spPr>
        <p:txBody>
          <a:bodyPr spcFirstLastPara="1" wrap="square" lIns="91425" tIns="45700" rIns="91425" bIns="45700" anchor="t" anchorCtr="0">
            <a:normAutofit/>
          </a:bodyPr>
          <a:lstStyle/>
          <a:p>
            <a:pPr marL="0" indent="0">
              <a:lnSpc>
                <a:spcPct val="95000"/>
              </a:lnSpc>
              <a:spcBef>
                <a:spcPts val="0"/>
              </a:spcBef>
              <a:spcAft>
                <a:spcPts val="0"/>
              </a:spcAft>
              <a:buNone/>
            </a:pPr>
            <a:r>
              <a:rPr lang="en-US" sz="1400" b="1" dirty="0"/>
              <a:t>The </a:t>
            </a:r>
            <a:r>
              <a:rPr lang="en-US" sz="1400" b="1" dirty="0" err="1"/>
              <a:t>DevSecOps</a:t>
            </a:r>
            <a:r>
              <a:rPr lang="en-US" sz="1400" b="1" dirty="0"/>
              <a:t> pipeline is a continuous loop of eight stages. </a:t>
            </a:r>
            <a:r>
              <a:rPr lang="en-US" sz="1400" dirty="0"/>
              <a:t>Pre-production: assess and plan, design, build, verify and test. Production: transition and health check, monitor and detect, respond, maintain and stabilize. A failed gate or an open Level 4 or 5 finding stops the release, and lessons learned feed back into planning.</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ools table" descr="External tools, where they run in the pipeline and how they are used">
            <a:extLst>
              <a:ext uri="{FF2B5EF4-FFF2-40B4-BE49-F238E27FC236}">
                <a16:creationId xmlns:a16="http://schemas.microsoft.com/office/drawing/2014/main" id="{6A6128FA-D3FF-17FA-6386-00846A417051}"/>
              </a:ext>
            </a:extLst>
          </p:cNvPr>
          <p:cNvGraphicFramePr>
            <a:graphicFrameLocks noGrp="1"/>
          </p:cNvGraphicFramePr>
          <p:nvPr/>
        </p:nvGraphicFramePr>
        <p:xfrm>
          <a:off x="1371600" y="3000000"/>
          <a:ext cx="9601200" cy="3257944"/>
        </p:xfrm>
        <a:graphic>
          <a:graphicData uri="http://schemas.openxmlformats.org/drawingml/2006/table">
            <a:tbl>
              <a:tblPr firstRow="1">
                <a:tableStyleId>{802198C4-3087-4945-87E3-76CBB3509B7E}</a:tableStyleId>
              </a:tblPr>
              <a:tblGrid>
                <a:gridCol w="2000000">
                  <a:extLst>
                    <a:ext uri="{9D8B030D-6E8A-4147-A177-3AD203B41FA5}">
                      <a16:colId xmlns:a16="http://schemas.microsoft.com/office/drawing/2014/main" val="20000"/>
                    </a:ext>
                  </a:extLst>
                </a:gridCol>
                <a:gridCol w="3100000">
                  <a:extLst>
                    <a:ext uri="{9D8B030D-6E8A-4147-A177-3AD203B41FA5}">
                      <a16:colId xmlns:a16="http://schemas.microsoft.com/office/drawing/2014/main" val="20001"/>
                    </a:ext>
                  </a:extLst>
                </a:gridCol>
                <a:gridCol w="4501200">
                  <a:extLst>
                    <a:ext uri="{9D8B030D-6E8A-4147-A177-3AD203B41FA5}">
                      <a16:colId xmlns:a16="http://schemas.microsoft.com/office/drawing/2014/main" val="20002"/>
                    </a:ext>
                  </a:extLst>
                </a:gridCol>
              </a:tblGrid>
              <a:tr h="300000">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Tool</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Where in the pipeline</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How it is used</a:t>
                      </a:r>
                    </a:p>
                  </a:txBody>
                  <a:tcPr marL="72000" marR="72000" anchor="ctr">
                    <a:solidFill>
                      <a:schemeClr val="tx2"/>
                    </a:solidFill>
                  </a:tcPr>
                </a:tc>
                <a:extLst>
                  <a:ext uri="{0D108BD9-81ED-4DB2-BD59-A6C34878D82A}">
                    <a16:rowId xmlns:a16="http://schemas.microsoft.com/office/drawing/2014/main" val="10000"/>
                  </a:ext>
                </a:extLst>
              </a:tr>
              <a:tr h="560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Cppcheck 2.16</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Build (IDE, pre-commit hook, CI, pull request); verify and test on the release candidate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Static checks for every standard except STD-004 and STD-009, for example signConversion, integerOverflow and doubleFree. A failing check fails the build.</a:t>
                      </a:r>
                    </a:p>
                  </a:txBody>
                  <a:tcPr marL="72000" marR="72000" anchor="ctr"/>
                </a:tc>
                <a:extLst>
                  <a:ext uri="{0D108BD9-81ED-4DB2-BD59-A6C34878D82A}">
                    <a16:rowId xmlns:a16="http://schemas.microsoft.com/office/drawing/2014/main" val="10001"/>
                  </a:ext>
                </a:extLst>
              </a:tr>
              <a:tr h="560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Clang-Tidy 19</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Build (workstation and CI); verify and test</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bugprone-assert-side-effect flags asserts whose check disappears when NDEBUG is defined (STD-009).</a:t>
                      </a:r>
                    </a:p>
                  </a:txBody>
                  <a:tcPr marL="72000" marR="72000" anchor="ctr"/>
                </a:tc>
                <a:extLst>
                  <a:ext uri="{0D108BD9-81ED-4DB2-BD59-A6C34878D82A}">
                    <a16:rowId xmlns:a16="http://schemas.microsoft.com/office/drawing/2014/main" val="10002"/>
                  </a:ext>
                </a:extLst>
              </a:tr>
              <a:tr h="560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OWASP ZAP 2.15</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Verify and test, against the staging build</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Active SQL Injection scan (rule 40018) sends injection payloads to every input (STD-004).</a:t>
                      </a:r>
                    </a:p>
                  </a:txBody>
                  <a:tcPr marL="72000" marR="72000" anchor="ctr"/>
                </a:tc>
                <a:extLst>
                  <a:ext uri="{0D108BD9-81ED-4DB2-BD59-A6C34878D82A}">
                    <a16:rowId xmlns:a16="http://schemas.microsoft.com/office/drawing/2014/main" val="10003"/>
                  </a:ext>
                </a:extLst>
              </a:tr>
              <a:tr h="560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Custom Cppcheck rule</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Build (pull request)</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Covers STD-004 because Cppcheck has no built-in SQL-injection checker; a reviewer confirms every query uses bound parameters.</a:t>
                      </a:r>
                    </a:p>
                  </a:txBody>
                  <a:tcPr marL="72000" marR="72000" anchor="ctr"/>
                </a:tc>
                <a:extLst>
                  <a:ext uri="{0D108BD9-81ED-4DB2-BD59-A6C34878D82A}">
                    <a16:rowId xmlns:a16="http://schemas.microsoft.com/office/drawing/2014/main" val="10004"/>
                  </a:ext>
                </a:extLst>
              </a:tr>
              <a:tr h="560000">
                <a:tc>
                  <a:txBody>
                    <a:bodyPr/>
                    <a:lstStyle/>
                    <a:p>
                      <a:pPr marL="0" indent="0" algn="l">
                        <a:lnSpc>
                          <a:spcPct val="95000"/>
                        </a:lnSpc>
                        <a:spcBef>
                          <a:spcPts val="0"/>
                        </a:spcBef>
                        <a:spcAft>
                          <a:spcPts val="0"/>
                        </a:spcAft>
                        <a:buNone/>
                      </a:pPr>
                      <a:r>
                        <a:rPr lang="en-US" sz="1200" b="1" dirty="0">
                          <a:solidFill>
                            <a:schemeClr val="tx2"/>
                          </a:solidFill>
                          <a:latin typeface="Arial"/>
                          <a:cs typeface="Arial"/>
                        </a:rPr>
                        <a:t>SIEM and central logs</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Monitor and detect (production)</a:t>
                      </a:r>
                    </a:p>
                  </a:txBody>
                  <a:tcPr marL="72000" marR="72000" anchor="ctr"/>
                </a:tc>
                <a:tc>
                  <a:txBody>
                    <a:bodyPr/>
                    <a:lstStyle/>
                    <a:p>
                      <a:pPr marL="0" indent="0" algn="l">
                        <a:lnSpc>
                          <a:spcPct val="95000"/>
                        </a:lnSpc>
                        <a:spcBef>
                          <a:spcPts val="0"/>
                        </a:spcBef>
                        <a:spcAft>
                          <a:spcPts val="0"/>
                        </a:spcAft>
                        <a:buNone/>
                      </a:pPr>
                      <a:r>
                        <a:rPr lang="en-US" sz="1200" dirty="0">
                          <a:solidFill>
                            <a:schemeClr val="tx2"/>
                          </a:solidFill>
                          <a:latin typeface="Arial"/>
                          <a:cs typeface="Arial"/>
                        </a:rPr>
                        <a:t>Collects Triple-A, operating system, firewall and anti-malware logs; alerts on repeated failed logins, privilege changes and unusual database or file activity.</a:t>
                      </a:r>
                    </a:p>
                  </a:txBody>
                  <a:tcPr marL="72000" marR="72000" anchor="ctr"/>
                </a:tc>
                <a:extLst>
                  <a:ext uri="{0D108BD9-81ED-4DB2-BD59-A6C34878D82A}">
                    <a16:rowId xmlns:a16="http://schemas.microsoft.com/office/drawing/2014/main" val="10005"/>
                  </a:ext>
                </a:extLst>
              </a:tr>
            </a:tbl>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Risks and benefits table" descr="Problem, solution, act now versus wait, gaps and steps">
            <a:extLst>
              <a:ext uri="{FF2B5EF4-FFF2-40B4-BE49-F238E27FC236}">
                <a16:creationId xmlns:a16="http://schemas.microsoft.com/office/drawing/2014/main" id="{D3AD320C-FA24-1711-6656-F281E02DD3D3}"/>
              </a:ext>
            </a:extLst>
          </p:cNvPr>
          <p:cNvGraphicFramePr>
            <a:graphicFrameLocks noGrp="1"/>
          </p:cNvGraphicFramePr>
          <p:nvPr/>
        </p:nvGraphicFramePr>
        <p:xfrm>
          <a:off x="1371600" y="1950000"/>
          <a:ext cx="9601200" cy="4423926"/>
        </p:xfrm>
        <a:graphic>
          <a:graphicData uri="http://schemas.openxmlformats.org/drawingml/2006/table">
            <a:tbl>
              <a:tblPr firstRow="1">
                <a:tableStyleId>{802198C4-3087-4945-87E3-76CBB3509B7E}</a:tableStyleId>
              </a:tblPr>
              <a:tblGrid>
                <a:gridCol w="2200000">
                  <a:extLst>
                    <a:ext uri="{9D8B030D-6E8A-4147-A177-3AD203B41FA5}">
                      <a16:colId xmlns:a16="http://schemas.microsoft.com/office/drawing/2014/main" val="20000"/>
                    </a:ext>
                  </a:extLst>
                </a:gridCol>
                <a:gridCol w="7401200">
                  <a:extLst>
                    <a:ext uri="{9D8B030D-6E8A-4147-A177-3AD203B41FA5}">
                      <a16:colId xmlns:a16="http://schemas.microsoft.com/office/drawing/2014/main" val="20001"/>
                    </a:ext>
                  </a:extLst>
                </a:gridCol>
              </a:tblGrid>
              <a:tr h="640000">
                <a:tc>
                  <a:txBody>
                    <a:bodyPr/>
                    <a:lstStyle/>
                    <a:p>
                      <a:pPr marL="0" indent="0" algn="l">
                        <a:lnSpc>
                          <a:spcPct val="95000"/>
                        </a:lnSpc>
                        <a:spcBef>
                          <a:spcPts val="0"/>
                        </a:spcBef>
                        <a:spcAft>
                          <a:spcPts val="0"/>
                        </a:spcAft>
                        <a:buNone/>
                      </a:pPr>
                      <a:r>
                        <a:rPr lang="en-US" sz="1400" b="1" dirty="0">
                          <a:solidFill>
                            <a:schemeClr val="bg1"/>
                          </a:solidFill>
                          <a:latin typeface="Arial"/>
                          <a:cs typeface="Arial"/>
                        </a:rPr>
                        <a:t>Problem</a:t>
                      </a:r>
                    </a:p>
                  </a:txBody>
                  <a:tcPr marL="100000" marR="100000" marT="50000" marB="50000" anchor="ctr">
                    <a:solidFill>
                      <a:schemeClr val="tx2"/>
                    </a:solidFill>
                  </a:tcP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Six of the ten standards are High severity at Level 4 or 5: integer, string and memory flaws (STD-001, 002, 003, 005, 008) and SQL injection (STD-004) are exploitable and rated Likely or Probable.</a:t>
                      </a:r>
                    </a:p>
                  </a:txBody>
                  <a:tcPr marL="100000" marR="100000" marT="50000" marB="50000" anchor="ctr"/>
                </a:tc>
                <a:extLst>
                  <a:ext uri="{0D108BD9-81ED-4DB2-BD59-A6C34878D82A}">
                    <a16:rowId xmlns:a16="http://schemas.microsoft.com/office/drawing/2014/main" val="10000"/>
                  </a:ext>
                </a:extLst>
              </a:tr>
              <a:tr h="640000">
                <a:tc>
                  <a:txBody>
                    <a:bodyPr/>
                    <a:lstStyle/>
                    <a:p>
                      <a:pPr marL="0" indent="0" algn="l">
                        <a:lnSpc>
                          <a:spcPct val="95000"/>
                        </a:lnSpc>
                        <a:spcBef>
                          <a:spcPts val="0"/>
                        </a:spcBef>
                        <a:spcAft>
                          <a:spcPts val="0"/>
                        </a:spcAft>
                        <a:buNone/>
                      </a:pPr>
                      <a:r>
                        <a:rPr lang="en-US" sz="1400" b="1" dirty="0">
                          <a:solidFill>
                            <a:schemeClr val="bg1"/>
                          </a:solidFill>
                          <a:latin typeface="Arial"/>
                          <a:cs typeface="Arial"/>
                        </a:rPr>
                        <a:t>Solution</a:t>
                      </a:r>
                    </a:p>
                  </a:txBody>
                  <a:tcPr marL="100000" marR="100000" marT="50000" marB="50000" anchor="ctr">
                    <a:solidFill>
                      <a:schemeClr val="tx2"/>
                    </a:solidFill>
                  </a:tcP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Ten standards enforced by automated gates (Cppcheck, Clang-Tidy, OWASP ZAP), Triple-A controls, and encryption at rest, in flight and in use. A release is blocked while a Level 4 or 5 finding is open.</a:t>
                      </a:r>
                    </a:p>
                  </a:txBody>
                  <a:tcPr marL="100000" marR="100000" marT="50000" marB="50000" anchor="ctr"/>
                </a:tc>
                <a:extLst>
                  <a:ext uri="{0D108BD9-81ED-4DB2-BD59-A6C34878D82A}">
                    <a16:rowId xmlns:a16="http://schemas.microsoft.com/office/drawing/2014/main" val="10001"/>
                  </a:ext>
                </a:extLst>
              </a:tr>
              <a:tr h="640000">
                <a:tc>
                  <a:txBody>
                    <a:bodyPr/>
                    <a:lstStyle/>
                    <a:p>
                      <a:pPr marL="0" indent="0" algn="l">
                        <a:lnSpc>
                          <a:spcPct val="95000"/>
                        </a:lnSpc>
                        <a:spcBef>
                          <a:spcPts val="0"/>
                        </a:spcBef>
                        <a:spcAft>
                          <a:spcPts val="0"/>
                        </a:spcAft>
                        <a:buNone/>
                      </a:pPr>
                      <a:r>
                        <a:rPr lang="en-US" sz="1400" b="1" dirty="0">
                          <a:solidFill>
                            <a:schemeClr val="bg1"/>
                          </a:solidFill>
                          <a:latin typeface="Arial"/>
                          <a:cs typeface="Arial"/>
                        </a:rPr>
                        <a:t>Act now</a:t>
                      </a:r>
                    </a:p>
                  </a:txBody>
                  <a:tcPr marL="100000" marR="100000" marT="50000" marB="50000" anchor="ctr">
                    <a:solidFill>
                      <a:schemeClr val="tx2"/>
                    </a:solidFill>
                  </a:tcP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Benefits: defects are caught before release and audit evidence is recorded. STD-004 is a Level 5 risk that is Low cost to fix, so it is a quick win.</a:t>
                      </a:r>
                    </a:p>
                  </a:txBody>
                  <a:tcPr marL="100000" marR="100000" marT="50000" marB="50000" anchor="ctr"/>
                </a:tc>
                <a:extLst>
                  <a:ext uri="{0D108BD9-81ED-4DB2-BD59-A6C34878D82A}">
                    <a16:rowId xmlns:a16="http://schemas.microsoft.com/office/drawing/2014/main" val="10002"/>
                  </a:ext>
                </a:extLst>
              </a:tr>
              <a:tr h="640000">
                <a:tc>
                  <a:txBody>
                    <a:bodyPr/>
                    <a:lstStyle/>
                    <a:p>
                      <a:pPr marL="0" indent="0" algn="l">
                        <a:lnSpc>
                          <a:spcPct val="95000"/>
                        </a:lnSpc>
                        <a:spcBef>
                          <a:spcPts val="0"/>
                        </a:spcBef>
                        <a:spcAft>
                          <a:spcPts val="0"/>
                        </a:spcAft>
                        <a:buNone/>
                      </a:pPr>
                      <a:r>
                        <a:rPr lang="en-US" sz="1400" b="1" dirty="0">
                          <a:solidFill>
                            <a:schemeClr val="bg1"/>
                          </a:solidFill>
                          <a:latin typeface="Arial"/>
                          <a:cs typeface="Arial"/>
                        </a:rPr>
                        <a:t>Wait</a:t>
                      </a:r>
                    </a:p>
                  </a:txBody>
                  <a:tcPr marL="100000" marR="100000" marT="50000" marB="50000" anchor="ctr">
                    <a:solidFill>
                      <a:schemeClr val="tx2"/>
                    </a:solidFill>
                  </a:tcP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Risks: Level 5 flaws, rated Likely, stay in shipped code, and every new build adds more code written without the gates.</a:t>
                      </a:r>
                    </a:p>
                  </a:txBody>
                  <a:tcPr marL="100000" marR="100000" marT="50000" marB="50000" anchor="ctr"/>
                </a:tc>
                <a:extLst>
                  <a:ext uri="{0D108BD9-81ED-4DB2-BD59-A6C34878D82A}">
                    <a16:rowId xmlns:a16="http://schemas.microsoft.com/office/drawing/2014/main" val="10003"/>
                  </a:ext>
                </a:extLst>
              </a:tr>
              <a:tr h="640000">
                <a:tc>
                  <a:txBody>
                    <a:bodyPr/>
                    <a:lstStyle/>
                    <a:p>
                      <a:pPr marL="0" indent="0" algn="l">
                        <a:lnSpc>
                          <a:spcPct val="95000"/>
                        </a:lnSpc>
                        <a:spcBef>
                          <a:spcPts val="0"/>
                        </a:spcBef>
                        <a:spcAft>
                          <a:spcPts val="0"/>
                        </a:spcAft>
                        <a:buNone/>
                      </a:pPr>
                      <a:r>
                        <a:rPr lang="en-US" sz="1400" b="1" dirty="0">
                          <a:solidFill>
                            <a:schemeClr val="bg1"/>
                          </a:solidFill>
                          <a:latin typeface="Arial"/>
                          <a:cs typeface="Arial"/>
                        </a:rPr>
                        <a:t>Where it is lacking</a:t>
                      </a:r>
                    </a:p>
                  </a:txBody>
                  <a:tcPr marL="100000" marR="100000" marT="50000" marB="50000" anchor="ctr">
                    <a:solidFill>
                      <a:schemeClr val="tx2"/>
                    </a:solidFill>
                  </a:tcP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Cppcheck has no built-in SQL-injection checker and reports overflow only where it can be determined statically, so STD-004 and STD-002 depend on a custom rule, reviewer judgement and testing.</a:t>
                      </a:r>
                    </a:p>
                  </a:txBody>
                  <a:tcPr marL="100000" marR="100000" marT="50000" marB="50000" anchor="ctr"/>
                </a:tc>
                <a:extLst>
                  <a:ext uri="{0D108BD9-81ED-4DB2-BD59-A6C34878D82A}">
                    <a16:rowId xmlns:a16="http://schemas.microsoft.com/office/drawing/2014/main" val="10004"/>
                  </a:ext>
                </a:extLst>
              </a:tr>
              <a:tr h="1150000">
                <a:tc>
                  <a:txBody>
                    <a:bodyPr/>
                    <a:lstStyle/>
                    <a:p>
                      <a:pPr marL="0" indent="0" algn="l">
                        <a:lnSpc>
                          <a:spcPct val="95000"/>
                        </a:lnSpc>
                        <a:spcBef>
                          <a:spcPts val="0"/>
                        </a:spcBef>
                        <a:spcAft>
                          <a:spcPts val="0"/>
                        </a:spcAft>
                        <a:buNone/>
                      </a:pPr>
                      <a:r>
                        <a:rPr lang="en-US" sz="1400" b="1" dirty="0">
                          <a:solidFill>
                            <a:schemeClr val="bg1"/>
                          </a:solidFill>
                          <a:latin typeface="Arial"/>
                          <a:cs typeface="Arial"/>
                        </a:rPr>
                        <a:t>Steps to take</a:t>
                      </a:r>
                    </a:p>
                  </a:txBody>
                  <a:tcPr marL="100000" marR="100000" marT="50000" marB="50000" anchor="ctr">
                    <a:solidFill>
                      <a:schemeClr val="tx2"/>
                    </a:solidFill>
                  </a:tcP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1. Fix Level 5 first, then Level 4.</a:t>
                      </a:r>
                    </a:p>
                    <a:p>
                      <a:pPr marL="0" indent="0" algn="l">
                        <a:lnSpc>
                          <a:spcPct val="95000"/>
                        </a:lnSpc>
                        <a:spcBef>
                          <a:spcPts val="200"/>
                        </a:spcBef>
                        <a:spcAft>
                          <a:spcPts val="0"/>
                        </a:spcAft>
                        <a:buNone/>
                      </a:pPr>
                      <a:r>
                        <a:rPr lang="en-US" sz="1300" dirty="0">
                          <a:solidFill>
                            <a:schemeClr val="tx2"/>
                          </a:solidFill>
                          <a:latin typeface="Arial"/>
                          <a:cs typeface="Arial"/>
                        </a:rPr>
                        <a:t>2. Block merges on new Level 4 or 5 findings.</a:t>
                      </a:r>
                    </a:p>
                    <a:p>
                      <a:pPr marL="0" indent="0" algn="l">
                        <a:lnSpc>
                          <a:spcPct val="95000"/>
                        </a:lnSpc>
                        <a:spcBef>
                          <a:spcPts val="200"/>
                        </a:spcBef>
                        <a:spcAft>
                          <a:spcPts val="0"/>
                        </a:spcAft>
                        <a:buNone/>
                      </a:pPr>
                      <a:r>
                        <a:rPr lang="en-US" sz="1300" dirty="0">
                          <a:solidFill>
                            <a:schemeClr val="tx2"/>
                          </a:solidFill>
                          <a:latin typeface="Arial"/>
                          <a:cs typeface="Arial"/>
                        </a:rPr>
                        <a:t>3. Run the tests on a Release build.</a:t>
                      </a:r>
                    </a:p>
                    <a:p>
                      <a:pPr marL="0" indent="0" algn="l">
                        <a:lnSpc>
                          <a:spcPct val="95000"/>
                        </a:lnSpc>
                        <a:spcBef>
                          <a:spcPts val="200"/>
                        </a:spcBef>
                        <a:spcAft>
                          <a:spcPts val="0"/>
                        </a:spcAft>
                        <a:buNone/>
                      </a:pPr>
                      <a:r>
                        <a:rPr lang="en-US" sz="1300" dirty="0">
                          <a:solidFill>
                            <a:schemeClr val="tx2"/>
                          </a:solidFill>
                          <a:latin typeface="Arial"/>
                          <a:cs typeface="Arial"/>
                        </a:rPr>
                        <a:t>4. Require a penetration test or manual review for authentication, authorization or encryption changes.</a:t>
                      </a:r>
                    </a:p>
                  </a:txBody>
                  <a:tcPr marL="100000" marR="100000" marT="50000" marB="50000" anchor="ctr"/>
                </a:tc>
                <a:extLst>
                  <a:ext uri="{0D108BD9-81ED-4DB2-BD59-A6C34878D82A}">
                    <a16:rowId xmlns:a16="http://schemas.microsoft.com/office/drawing/2014/main" val="10005"/>
                  </a:ext>
                </a:extLst>
              </a:tr>
            </a:tbl>
          </a:graphicData>
        </a:graphic>
      </p:graphicFrame>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Recommendations table" descr="Gaps in the security policy and recommended fixes">
            <a:extLst>
              <a:ext uri="{FF2B5EF4-FFF2-40B4-BE49-F238E27FC236}">
                <a16:creationId xmlns:a16="http://schemas.microsoft.com/office/drawing/2014/main" id="{A5EBB552-6704-D604-330A-DA25A990D994}"/>
              </a:ext>
            </a:extLst>
          </p:cNvPr>
          <p:cNvGraphicFramePr>
            <a:graphicFrameLocks noGrp="1"/>
          </p:cNvGraphicFramePr>
          <p:nvPr/>
        </p:nvGraphicFramePr>
        <p:xfrm>
          <a:off x="1371600" y="1950000"/>
          <a:ext cx="9601200" cy="4280000"/>
        </p:xfrm>
        <a:graphic>
          <a:graphicData uri="http://schemas.openxmlformats.org/drawingml/2006/table">
            <a:tbl>
              <a:tblPr firstRow="1">
                <a:tableStyleId>{802198C4-3087-4945-87E3-76CBB3509B7E}</a:tableStyleId>
              </a:tblPr>
              <a:tblGrid>
                <a:gridCol w="5000000">
                  <a:extLst>
                    <a:ext uri="{9D8B030D-6E8A-4147-A177-3AD203B41FA5}">
                      <a16:colId xmlns:a16="http://schemas.microsoft.com/office/drawing/2014/main" val="20000"/>
                    </a:ext>
                  </a:extLst>
                </a:gridCol>
                <a:gridCol w="4601200">
                  <a:extLst>
                    <a:ext uri="{9D8B030D-6E8A-4147-A177-3AD203B41FA5}">
                      <a16:colId xmlns:a16="http://schemas.microsoft.com/office/drawing/2014/main" val="20001"/>
                    </a:ext>
                  </a:extLst>
                </a:gridCol>
              </a:tblGrid>
              <a:tr h="320000">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Gap in the policy</a:t>
                      </a:r>
                    </a:p>
                  </a:txBody>
                  <a:tcPr marL="72000" marR="72000" anchor="ctr">
                    <a:solidFill>
                      <a:schemeClr val="tx2"/>
                    </a:solidFill>
                  </a:tcPr>
                </a:tc>
                <a:tc>
                  <a:txBody>
                    <a:bodyPr/>
                    <a:lstStyle/>
                    <a:p>
                      <a:pPr marL="0" indent="0" algn="l">
                        <a:lnSpc>
                          <a:spcPct val="95000"/>
                        </a:lnSpc>
                        <a:spcBef>
                          <a:spcPts val="0"/>
                        </a:spcBef>
                        <a:spcAft>
                          <a:spcPts val="0"/>
                        </a:spcAft>
                        <a:buNone/>
                      </a:pPr>
                      <a:r>
                        <a:rPr lang="en-US" sz="1200" b="1" dirty="0">
                          <a:solidFill>
                            <a:schemeClr val="bg1"/>
                          </a:solidFill>
                          <a:latin typeface="Arial"/>
                          <a:cs typeface="Arial"/>
                        </a:rPr>
                        <a:t>Recommendation</a:t>
                      </a:r>
                    </a:p>
                  </a:txBody>
                  <a:tcPr marL="72000" marR="72000" anchor="ctr">
                    <a:solidFill>
                      <a:schemeClr val="tx2"/>
                    </a:solidFill>
                  </a:tcPr>
                </a:tc>
                <a:extLst>
                  <a:ext uri="{0D108BD9-81ED-4DB2-BD59-A6C34878D82A}">
                    <a16:rowId xmlns:a16="http://schemas.microsoft.com/office/drawing/2014/main" val="10000"/>
                  </a:ext>
                </a:extLst>
              </a:tr>
              <a:tr h="660000">
                <a:tc>
                  <a:txBody>
                    <a:bodyPr/>
                    <a:lstStyle/>
                    <a:p>
                      <a:pPr marL="0" indent="0" algn="l">
                        <a:lnSpc>
                          <a:spcPct val="95000"/>
                        </a:lnSpc>
                        <a:spcBef>
                          <a:spcPts val="0"/>
                        </a:spcBef>
                        <a:spcAft>
                          <a:spcPts val="0"/>
                        </a:spcAft>
                        <a:buNone/>
                      </a:pPr>
                      <a:r>
                        <a:rPr lang="en-US" sz="1300" dirty="0">
                          <a:solidFill>
                            <a:schemeClr val="tx2"/>
                          </a:solidFill>
                          <a:latin typeface="Arial"/>
                          <a:cs typeface="Arial"/>
                        </a:rPr>
                        <a:t>The risk summary lists STD-001-CPP (High, Unlikely, Level 2), but the policy has no matching standard.</a:t>
                      </a:r>
                    </a:p>
                  </a:txBody>
                  <a:tcPr marL="72000" marR="72000" anchor="ct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Reconcile the risk table with the ten standards: write the missing standard or remove the row.</a:t>
                      </a:r>
                    </a:p>
                  </a:txBody>
                  <a:tcPr marL="72000" marR="72000" anchor="ctr"/>
                </a:tc>
                <a:extLst>
                  <a:ext uri="{0D108BD9-81ED-4DB2-BD59-A6C34878D82A}">
                    <a16:rowId xmlns:a16="http://schemas.microsoft.com/office/drawing/2014/main" val="10001"/>
                  </a:ext>
                </a:extLst>
              </a:tr>
              <a:tr h="660000">
                <a:tc>
                  <a:txBody>
                    <a:bodyPr/>
                    <a:lstStyle/>
                    <a:p>
                      <a:pPr marL="0" indent="0" algn="l">
                        <a:lnSpc>
                          <a:spcPct val="95000"/>
                        </a:lnSpc>
                        <a:spcBef>
                          <a:spcPts val="0"/>
                        </a:spcBef>
                        <a:spcAft>
                          <a:spcPts val="0"/>
                        </a:spcAft>
                        <a:buNone/>
                      </a:pPr>
                      <a:r>
                        <a:rPr lang="en-US" sz="1300" dirty="0">
                          <a:solidFill>
                            <a:schemeClr val="tx2"/>
                          </a:solidFill>
                          <a:latin typeface="Arial"/>
                          <a:cs typeface="Arial"/>
                        </a:rPr>
                        <a:t>Cppcheck has no built-in SQL-injection checker, so STD-004 (Level 5) relies on a custom rule, a reviewer and a ZAP scan.</a:t>
                      </a:r>
                    </a:p>
                  </a:txBody>
                  <a:tcPr marL="72000" marR="72000" anchor="ct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Add a maintained static SQL-injection rule and make the bound-parameter check a merge gate.</a:t>
                      </a:r>
                    </a:p>
                  </a:txBody>
                  <a:tcPr marL="72000" marR="72000" anchor="ctr"/>
                </a:tc>
                <a:extLst>
                  <a:ext uri="{0D108BD9-81ED-4DB2-BD59-A6C34878D82A}">
                    <a16:rowId xmlns:a16="http://schemas.microsoft.com/office/drawing/2014/main" val="10002"/>
                  </a:ext>
                </a:extLst>
              </a:tr>
              <a:tr h="660000">
                <a:tc>
                  <a:txBody>
                    <a:bodyPr/>
                    <a:lstStyle/>
                    <a:p>
                      <a:pPr marL="0" indent="0" algn="l">
                        <a:lnSpc>
                          <a:spcPct val="95000"/>
                        </a:lnSpc>
                        <a:spcBef>
                          <a:spcPts val="0"/>
                        </a:spcBef>
                        <a:spcAft>
                          <a:spcPts val="0"/>
                        </a:spcAft>
                        <a:buNone/>
                      </a:pPr>
                      <a:r>
                        <a:rPr lang="en-US" sz="1300" dirty="0">
                          <a:solidFill>
                            <a:schemeClr val="tx2"/>
                          </a:solidFill>
                          <a:latin typeface="Arial"/>
                          <a:cs typeface="Arial"/>
                        </a:rPr>
                        <a:t>Static analysis reports only overflow it can determine statically (STD-002, Level 5).</a:t>
                      </a:r>
                    </a:p>
                  </a:txBody>
                  <a:tcPr marL="72000" marR="72000" anchor="ct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Add fuzzing and sanitizer runs to the verify-and-test stage.</a:t>
                      </a:r>
                    </a:p>
                  </a:txBody>
                  <a:tcPr marL="72000" marR="72000" anchor="ctr"/>
                </a:tc>
                <a:extLst>
                  <a:ext uri="{0D108BD9-81ED-4DB2-BD59-A6C34878D82A}">
                    <a16:rowId xmlns:a16="http://schemas.microsoft.com/office/drawing/2014/main" val="10003"/>
                  </a:ext>
                </a:extLst>
              </a:tr>
              <a:tr h="660000">
                <a:tc>
                  <a:txBody>
                    <a:bodyPr/>
                    <a:lstStyle/>
                    <a:p>
                      <a:pPr marL="0" indent="0" algn="l">
                        <a:lnSpc>
                          <a:spcPct val="95000"/>
                        </a:lnSpc>
                        <a:spcBef>
                          <a:spcPts val="0"/>
                        </a:spcBef>
                        <a:spcAft>
                          <a:spcPts val="0"/>
                        </a:spcAft>
                        <a:buNone/>
                      </a:pPr>
                      <a:r>
                        <a:rPr lang="en-US" sz="1300" dirty="0">
                          <a:solidFill>
                            <a:schemeClr val="tx2"/>
                          </a:solidFill>
                          <a:latin typeface="Arial"/>
                          <a:cs typeface="Arial"/>
                        </a:rPr>
                        <a:t>STD-006 (Assertions) and STD-009 (Disabled Assertion) describe the same defect: assert() used to validate input.</a:t>
                      </a:r>
                    </a:p>
                  </a:txBody>
                  <a:tcPr marL="72000" marR="72000" anchor="ct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Merge them into one standard, or give each a distinct scope.</a:t>
                      </a:r>
                    </a:p>
                  </a:txBody>
                  <a:tcPr marL="72000" marR="72000" anchor="ctr"/>
                </a:tc>
                <a:extLst>
                  <a:ext uri="{0D108BD9-81ED-4DB2-BD59-A6C34878D82A}">
                    <a16:rowId xmlns:a16="http://schemas.microsoft.com/office/drawing/2014/main" val="10004"/>
                  </a:ext>
                </a:extLst>
              </a:tr>
              <a:tr h="660000">
                <a:tc>
                  <a:txBody>
                    <a:bodyPr/>
                    <a:lstStyle/>
                    <a:p>
                      <a:pPr marL="0" indent="0" algn="l">
                        <a:lnSpc>
                          <a:spcPct val="95000"/>
                        </a:lnSpc>
                        <a:spcBef>
                          <a:spcPts val="0"/>
                        </a:spcBef>
                        <a:spcAft>
                          <a:spcPts val="0"/>
                        </a:spcAft>
                        <a:buNone/>
                      </a:pPr>
                      <a:r>
                        <a:rPr lang="en-US" sz="1300" dirty="0">
                          <a:solidFill>
                            <a:schemeClr val="tx2"/>
                          </a:solidFill>
                          <a:latin typeface="Arial"/>
                          <a:cs typeface="Arial"/>
                        </a:rPr>
                        <a:t>All standards are C++, but the approved language list also includes C (CLG) and Java (JAV).</a:t>
                      </a:r>
                    </a:p>
                  </a:txBody>
                  <a:tcPr marL="72000" marR="72000" anchor="ct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Add C and Java standards, or limit the approved list to C++.</a:t>
                      </a:r>
                    </a:p>
                  </a:txBody>
                  <a:tcPr marL="72000" marR="72000" anchor="ctr"/>
                </a:tc>
                <a:extLst>
                  <a:ext uri="{0D108BD9-81ED-4DB2-BD59-A6C34878D82A}">
                    <a16:rowId xmlns:a16="http://schemas.microsoft.com/office/drawing/2014/main" val="10005"/>
                  </a:ext>
                </a:extLst>
              </a:tr>
              <a:tr h="660000">
                <a:tc>
                  <a:txBody>
                    <a:bodyPr/>
                    <a:lstStyle/>
                    <a:p>
                      <a:pPr marL="0" indent="0" algn="l">
                        <a:lnSpc>
                          <a:spcPct val="95000"/>
                        </a:lnSpc>
                        <a:spcBef>
                          <a:spcPts val="0"/>
                        </a:spcBef>
                        <a:spcAft>
                          <a:spcPts val="0"/>
                        </a:spcAft>
                        <a:buNone/>
                      </a:pPr>
                      <a:r>
                        <a:rPr lang="en-US" sz="1300" dirty="0">
                          <a:solidFill>
                            <a:schemeClr val="tx2"/>
                          </a:solidFill>
                          <a:latin typeface="Arial"/>
                          <a:cs typeface="Arial"/>
                        </a:rPr>
                        <a:t>The version history shows no approver for any version, including 2.0 Finalized Policy.</a:t>
                      </a:r>
                    </a:p>
                  </a:txBody>
                  <a:tcPr marL="72000" marR="72000" anchor="ctr"/>
                </a:tc>
                <a:tc>
                  <a:txBody>
                    <a:bodyPr/>
                    <a:lstStyle/>
                    <a:p>
                      <a:pPr marL="0" indent="0" algn="l">
                        <a:lnSpc>
                          <a:spcPct val="95000"/>
                        </a:lnSpc>
                        <a:spcBef>
                          <a:spcPts val="0"/>
                        </a:spcBef>
                        <a:spcAft>
                          <a:spcPts val="0"/>
                        </a:spcAft>
                        <a:buNone/>
                      </a:pPr>
                      <a:r>
                        <a:rPr lang="en-US" sz="1300" dirty="0">
                          <a:solidFill>
                            <a:schemeClr val="tx2"/>
                          </a:solidFill>
                          <a:latin typeface="Arial"/>
                          <a:cs typeface="Arial"/>
                        </a:rPr>
                        <a:t>Record formal approval before the annual distribution and staff certification.</a:t>
                      </a:r>
                    </a:p>
                  </a:txBody>
                  <a:tcPr marL="72000" marR="72000" anchor="ctr"/>
                </a:tc>
                <a:extLst>
                  <a:ext uri="{0D108BD9-81ED-4DB2-BD59-A6C34878D82A}">
                    <a16:rowId xmlns:a16="http://schemas.microsoft.com/office/drawing/2014/main" val="10006"/>
                  </a:ext>
                </a:extLst>
              </a:tr>
            </a:tbl>
          </a:graphicData>
        </a:graphic>
      </p:graphicFrame>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228600" indent="-228600">
              <a:lnSpc>
                <a:spcPct val="95000"/>
              </a:lnSpc>
              <a:spcBef>
                <a:spcPts val="0"/>
              </a:spcBef>
              <a:spcAft>
                <a:spcPts val="0"/>
              </a:spcAft>
              <a:buClr>
                <a:schemeClr val="tx2"/>
              </a:buClr>
              <a:buFont typeface="Arial"/>
              <a:buChar char="•"/>
            </a:pPr>
            <a:r>
              <a:rPr lang="en-US" b="1" dirty="0"/>
              <a:t>Enforce every standard with a check. </a:t>
            </a:r>
            <a:r>
              <a:rPr lang="en-US" dirty="0"/>
              <a:t>Tie each rule to a checkable SEI CERT rule (for example INT31-C, STR50-CPP, MEM50-CPP, ERR61-CPP, DCL57-CPP) and an automated gate, so a violation fails the build.</a:t>
            </a:r>
          </a:p>
          <a:p>
            <a:pPr marL="228600" indent="-228600">
              <a:lnSpc>
                <a:spcPct val="95000"/>
              </a:lnSpc>
              <a:spcBef>
                <a:spcPts val="800"/>
              </a:spcBef>
              <a:spcAft>
                <a:spcPts val="0"/>
              </a:spcAft>
              <a:buClr>
                <a:schemeClr val="tx2"/>
              </a:buClr>
              <a:buFont typeface="Arial"/>
              <a:buChar char="•"/>
            </a:pPr>
            <a:r>
              <a:rPr lang="en-US" b="1" dirty="0"/>
              <a:t>Prefer safe-by-design code. </a:t>
            </a:r>
            <a:r>
              <a:rPr lang="en-US" dirty="0"/>
              <a:t>std::string, smart pointers, std::optional and checked arithmetic remove whole classes of Level 4 and 5 defects.</a:t>
            </a:r>
          </a:p>
          <a:p>
            <a:pPr marL="228600" indent="-228600">
              <a:lnSpc>
                <a:spcPct val="95000"/>
              </a:lnSpc>
              <a:spcBef>
                <a:spcPts val="800"/>
              </a:spcBef>
              <a:spcAft>
                <a:spcPts val="0"/>
              </a:spcAft>
              <a:buClr>
                <a:schemeClr val="tx2"/>
              </a:buClr>
              <a:buFont typeface="Arial"/>
              <a:buChar char="•"/>
            </a:pPr>
            <a:r>
              <a:rPr lang="en-US" b="1" dirty="0"/>
              <a:t>Keep validation always on. </a:t>
            </a:r>
            <a:r>
              <a:rPr lang="en-US" dirty="0"/>
              <a:t>Use runtime checks, parameterized queries and a least-privilege database account, not assert() or string-built SQL.</a:t>
            </a:r>
          </a:p>
          <a:p>
            <a:pPr marL="228600" indent="-228600">
              <a:lnSpc>
                <a:spcPct val="95000"/>
              </a:lnSpc>
              <a:spcBef>
                <a:spcPts val="800"/>
              </a:spcBef>
              <a:spcAft>
                <a:spcPts val="0"/>
              </a:spcAft>
              <a:buClr>
                <a:schemeClr val="tx2"/>
              </a:buClr>
              <a:buFont typeface="Arial"/>
              <a:buChar char="•"/>
            </a:pPr>
            <a:r>
              <a:rPr lang="en-US" b="1" dirty="0"/>
              <a:t>Keep the layers together. </a:t>
            </a:r>
            <a:r>
              <a:rPr lang="en-US" dirty="0"/>
              <a:t>Encryption at rest, in flight and in use plus Triple-A logging mean one failed control does not expose data.</a:t>
            </a:r>
          </a:p>
          <a:p>
            <a:pPr marL="228600" indent="-228600">
              <a:lnSpc>
                <a:spcPct val="95000"/>
              </a:lnSpc>
              <a:spcBef>
                <a:spcPts val="800"/>
              </a:spcBef>
              <a:spcAft>
                <a:spcPts val="0"/>
              </a:spcAft>
              <a:buClr>
                <a:schemeClr val="tx2"/>
              </a:buClr>
              <a:buFont typeface="Arial"/>
              <a:buChar char="•"/>
            </a:pPr>
            <a:r>
              <a:rPr lang="en-US" b="1" dirty="0"/>
              <a:t>Close the gaps and review yearly. </a:t>
            </a:r>
            <a:r>
              <a:rPr lang="en-US" dirty="0"/>
              <a:t>Act on the recommendations, review the policy at least every 365 days, and have all IT staff certify it annually.</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10000"/>
          </a:bodyPr>
          <a:lstStyle/>
          <a:p>
            <a:pPr marL="457200" indent="-457200">
              <a:lnSpc>
                <a:spcPct val="95000"/>
              </a:lnSpc>
              <a:spcBef>
                <a:spcPts val="0"/>
              </a:spcBef>
              <a:spcAft>
                <a:spcPts val="0"/>
              </a:spcAft>
              <a:buNone/>
            </a:pPr>
            <a:r>
              <a:rPr lang="en-US" dirty="0"/>
              <a:t>Beddoe, W. (n.d.). </a:t>
            </a:r>
            <a:r>
              <a:rPr lang="en-US" i="1" dirty="0"/>
              <a:t>Understanding the hierarchy of principles, policies, standards, procedures, and guidelines</a:t>
            </a:r>
            <a:r>
              <a:rPr lang="en-US" dirty="0"/>
              <a:t>. LinkedIn. https://</a:t>
            </a:r>
            <a:r>
              <a:rPr lang="en-US" dirty="0" err="1"/>
              <a:t>www.linkedin.com</a:t>
            </a:r>
            <a:r>
              <a:rPr lang="en-US" dirty="0"/>
              <a:t>/pulse/understanding-hierarchy-principles-policies-standards-wally-beddoe/</a:t>
            </a:r>
          </a:p>
          <a:p>
            <a:pPr marL="457200" indent="-457200">
              <a:lnSpc>
                <a:spcPct val="95000"/>
              </a:lnSpc>
              <a:spcBef>
                <a:spcPts val="700"/>
              </a:spcBef>
              <a:spcAft>
                <a:spcPts val="0"/>
              </a:spcAft>
              <a:buNone/>
            </a:pPr>
            <a:r>
              <a:rPr lang="en-US" dirty="0"/>
              <a:t>LLVM Project. (n.d.). </a:t>
            </a:r>
            <a:r>
              <a:rPr lang="en-US" i="1" dirty="0"/>
              <a:t>Clang-Tidy</a:t>
            </a:r>
            <a:r>
              <a:rPr lang="en-US" dirty="0"/>
              <a:t>. https://</a:t>
            </a:r>
            <a:r>
              <a:rPr lang="en-US" dirty="0" err="1"/>
              <a:t>clang.llvm.org</a:t>
            </a:r>
            <a:r>
              <a:rPr lang="en-US" dirty="0"/>
              <a:t>/extra/clang-tidy/</a:t>
            </a:r>
          </a:p>
          <a:p>
            <a:pPr marL="457200" indent="-457200">
              <a:lnSpc>
                <a:spcPct val="95000"/>
              </a:lnSpc>
              <a:spcBef>
                <a:spcPts val="700"/>
              </a:spcBef>
              <a:spcAft>
                <a:spcPts val="0"/>
              </a:spcAft>
              <a:buNone/>
            </a:pPr>
            <a:r>
              <a:rPr lang="en-US" dirty="0" err="1"/>
              <a:t>Cppcheck</a:t>
            </a:r>
            <a:r>
              <a:rPr lang="en-US" dirty="0"/>
              <a:t>. (n.d.). </a:t>
            </a:r>
            <a:r>
              <a:rPr lang="en-US" i="1" dirty="0" err="1"/>
              <a:t>Cppcheck</a:t>
            </a:r>
            <a:r>
              <a:rPr lang="en-US" i="1" dirty="0"/>
              <a:t>: A tool for static C/C++ code analysis</a:t>
            </a:r>
            <a:r>
              <a:rPr lang="en-US" dirty="0"/>
              <a:t>. https://</a:t>
            </a:r>
            <a:r>
              <a:rPr lang="en-US" dirty="0" err="1"/>
              <a:t>cppcheck.sourceforge.io</a:t>
            </a:r>
            <a:r>
              <a:rPr lang="en-US" dirty="0"/>
              <a:t>/</a:t>
            </a:r>
          </a:p>
          <a:p>
            <a:pPr marL="457200" indent="-457200">
              <a:lnSpc>
                <a:spcPct val="95000"/>
              </a:lnSpc>
              <a:spcBef>
                <a:spcPts val="700"/>
              </a:spcBef>
              <a:spcAft>
                <a:spcPts val="0"/>
              </a:spcAft>
              <a:buNone/>
            </a:pPr>
            <a:r>
              <a:rPr lang="en-US" dirty="0"/>
              <a:t>OWASP Foundation. (n.d.). </a:t>
            </a:r>
            <a:r>
              <a:rPr lang="en-US" i="1" dirty="0"/>
              <a:t>OWASP Zed Attack Proxy (ZAP)</a:t>
            </a:r>
            <a:r>
              <a:rPr lang="en-US" dirty="0"/>
              <a:t>. https://</a:t>
            </a:r>
            <a:r>
              <a:rPr lang="en-US" dirty="0" err="1"/>
              <a:t>www.zaproxy.org</a:t>
            </a:r>
            <a:r>
              <a:rPr lang="en-US" dirty="0"/>
              <a:t>/</a:t>
            </a:r>
          </a:p>
          <a:p>
            <a:pPr marL="457200" indent="-457200">
              <a:lnSpc>
                <a:spcPct val="95000"/>
              </a:lnSpc>
              <a:spcBef>
                <a:spcPts val="700"/>
              </a:spcBef>
              <a:spcAft>
                <a:spcPts val="0"/>
              </a:spcAft>
              <a:buNone/>
            </a:pPr>
            <a:r>
              <a:rPr lang="en-US" dirty="0"/>
              <a:t>Software Engineering Institute. (n.d.). </a:t>
            </a:r>
            <a:r>
              <a:rPr lang="en-US" i="1" dirty="0"/>
              <a:t>SEI CERT C coding standard</a:t>
            </a:r>
            <a:r>
              <a:rPr lang="en-US" dirty="0"/>
              <a:t>. Carnegie Mellon University. https://</a:t>
            </a:r>
            <a:r>
              <a:rPr lang="en-US" dirty="0" err="1"/>
              <a:t>wiki.sei.cmu.edu</a:t>
            </a:r>
            <a:r>
              <a:rPr lang="en-US" dirty="0"/>
              <a:t>/confluence/display/c/</a:t>
            </a:r>
            <a:r>
              <a:rPr lang="en-US" dirty="0" err="1"/>
              <a:t>SEI+CERT+C+Coding+Standard</a:t>
            </a:r>
            <a:endParaRPr lang="en-US" dirty="0"/>
          </a:p>
          <a:p>
            <a:pPr marL="457200" indent="-457200">
              <a:lnSpc>
                <a:spcPct val="95000"/>
              </a:lnSpc>
              <a:spcBef>
                <a:spcPts val="700"/>
              </a:spcBef>
              <a:spcAft>
                <a:spcPts val="0"/>
              </a:spcAft>
              <a:buNone/>
            </a:pPr>
            <a:r>
              <a:rPr lang="en-US" dirty="0"/>
              <a:t>Software Engineering Institute. (n.d.). </a:t>
            </a:r>
            <a:r>
              <a:rPr lang="en-US" i="1" dirty="0"/>
              <a:t>SEI CERT C++ coding standard</a:t>
            </a:r>
            <a:r>
              <a:rPr lang="en-US" dirty="0"/>
              <a:t>. Carnegie Mellon University. https://</a:t>
            </a:r>
            <a:r>
              <a:rPr lang="en-US" dirty="0" err="1"/>
              <a:t>wiki.sei.cmu.edu</a:t>
            </a:r>
            <a:r>
              <a:rPr lang="en-US" dirty="0"/>
              <a:t>/confluence/display/</a:t>
            </a:r>
            <a:r>
              <a:rPr lang="en-US" dirty="0" err="1"/>
              <a:t>cplusplus</a:t>
            </a:r>
            <a:r>
              <a:rPr lang="en-US" dirty="0"/>
              <a:t>/SEI+CERT+C%2B%2B+Coding+Standard</a:t>
            </a:r>
          </a:p>
          <a:p>
            <a:pPr marL="457200" indent="-457200">
              <a:lnSpc>
                <a:spcPct val="95000"/>
              </a:lnSpc>
              <a:spcBef>
                <a:spcPts val="700"/>
              </a:spcBef>
              <a:spcAft>
                <a:spcPts val="0"/>
              </a:spcAft>
              <a:buNone/>
            </a:pPr>
            <a:r>
              <a:rPr lang="en-US" dirty="0"/>
              <a:t>Van Niekerk, S. (n.d.). </a:t>
            </a:r>
            <a:r>
              <a:rPr lang="en-US" i="1" dirty="0"/>
              <a:t>NHS (Healthcare) defense in depth</a:t>
            </a:r>
            <a:r>
              <a:rPr lang="en-US" dirty="0"/>
              <a:t> [Illustration].</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Crop</Template>
  <TotalTime>9953</TotalTime>
  <Words>2005</Words>
  <Application>Microsoft Macintosh PowerPoint</Application>
  <PresentationFormat>Widescreen</PresentationFormat>
  <Paragraphs>200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Franklin Gothic Book</vt:lpstr>
      <vt:lpstr>Arial</vt:lpstr>
      <vt:lpstr>Century Gothic</vt:lpstr>
      <vt:lpstr>Calibri</vt:lpstr>
      <vt:lpstr>Crop</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Summers, Aaron</cp:lastModifiedBy>
  <cp:revision>7</cp:revision>
  <dcterms:created xsi:type="dcterms:W3CDTF">2020-08-19T17:59:24Z</dcterms:created>
  <dcterms:modified xsi:type="dcterms:W3CDTF">2026-10-25T22:23:35Z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